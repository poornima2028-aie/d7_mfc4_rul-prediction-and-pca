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grandir" panose="020B0604020202020204" charset="0"/>
      <p:regular r:id="rId19"/>
    </p:embeddedFont>
    <p:embeddedFont>
      <p:font typeface="Agrandir Bold" panose="020B0604020202020204" charset="0"/>
      <p:regular r:id="rId20"/>
    </p:embeddedFont>
    <p:embeddedFont>
      <p:font typeface="Agrandir Bold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3798535" y="2271284"/>
            <a:ext cx="8978930" cy="10266968"/>
          </a:xfrm>
          <a:custGeom>
            <a:avLst/>
            <a:gdLst/>
            <a:ahLst/>
            <a:cxnLst/>
            <a:rect l="l" t="t" r="r" b="b"/>
            <a:pathLst>
              <a:path w="8978930" h="10266968">
                <a:moveTo>
                  <a:pt x="0" y="0"/>
                </a:moveTo>
                <a:lnTo>
                  <a:pt x="8978930" y="0"/>
                </a:lnTo>
                <a:lnTo>
                  <a:pt x="8978930" y="10266968"/>
                </a:lnTo>
                <a:lnTo>
                  <a:pt x="0" y="102669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071097" y="292631"/>
            <a:ext cx="8298050" cy="3470094"/>
          </a:xfrm>
          <a:custGeom>
            <a:avLst/>
            <a:gdLst/>
            <a:ahLst/>
            <a:cxnLst/>
            <a:rect l="l" t="t" r="r" b="b"/>
            <a:pathLst>
              <a:path w="8298050" h="3470094">
                <a:moveTo>
                  <a:pt x="0" y="0"/>
                </a:moveTo>
                <a:lnTo>
                  <a:pt x="8298049" y="0"/>
                </a:lnTo>
                <a:lnTo>
                  <a:pt x="8298049" y="3470093"/>
                </a:lnTo>
                <a:lnTo>
                  <a:pt x="0" y="34700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29439" y="7198684"/>
            <a:ext cx="4117755" cy="2058877"/>
          </a:xfrm>
          <a:custGeom>
            <a:avLst/>
            <a:gdLst/>
            <a:ahLst/>
            <a:cxnLst/>
            <a:rect l="l" t="t" r="r" b="b"/>
            <a:pathLst>
              <a:path w="4117755" h="2058877">
                <a:moveTo>
                  <a:pt x="0" y="0"/>
                </a:moveTo>
                <a:lnTo>
                  <a:pt x="4117755" y="0"/>
                </a:lnTo>
                <a:lnTo>
                  <a:pt x="4117755" y="2058877"/>
                </a:lnTo>
                <a:lnTo>
                  <a:pt x="0" y="20588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5814295" y="-150113"/>
            <a:ext cx="3267256" cy="3333935"/>
          </a:xfrm>
          <a:custGeom>
            <a:avLst/>
            <a:gdLst/>
            <a:ahLst/>
            <a:cxnLst/>
            <a:rect l="l" t="t" r="r" b="b"/>
            <a:pathLst>
              <a:path w="3267256" h="3333935">
                <a:moveTo>
                  <a:pt x="0" y="0"/>
                </a:moveTo>
                <a:lnTo>
                  <a:pt x="3267257" y="0"/>
                </a:lnTo>
                <a:lnTo>
                  <a:pt x="3267257" y="3333935"/>
                </a:lnTo>
                <a:lnTo>
                  <a:pt x="0" y="33339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514350" y="1827652"/>
            <a:ext cx="17259300" cy="3813047"/>
          </a:xfrm>
          <a:prstGeom prst="rect">
            <a:avLst/>
          </a:prstGeom>
        </p:spPr>
        <p:txBody>
          <a:bodyPr lIns="0" tIns="0" rIns="0" bIns="0" rtlCol="0" anchor="t">
            <a:spAutoFit/>
          </a:bodyPr>
          <a:lstStyle/>
          <a:p>
            <a:pPr algn="ctr">
              <a:lnSpc>
                <a:spcPts val="9395"/>
              </a:lnSpc>
            </a:pPr>
            <a:r>
              <a:rPr lang="en-US" sz="8099" b="1" i="1" u="sng">
                <a:solidFill>
                  <a:srgbClr val="2A6D72"/>
                </a:solidFill>
                <a:latin typeface="Agrandir Bold Italics"/>
                <a:ea typeface="Agrandir Bold Italics"/>
                <a:cs typeface="Agrandir Bold Italics"/>
                <a:sym typeface="Agrandir Bold Italics"/>
              </a:rPr>
              <a:t>Attention-Based RUL Prediction for Aircraft Engine Health Monitoring</a:t>
            </a:r>
          </a:p>
        </p:txBody>
      </p:sp>
      <p:sp>
        <p:nvSpPr>
          <p:cNvPr id="7" name="TextBox 7"/>
          <p:cNvSpPr txBox="1"/>
          <p:nvPr/>
        </p:nvSpPr>
        <p:spPr>
          <a:xfrm>
            <a:off x="2580586" y="6357841"/>
            <a:ext cx="6931938" cy="2733673"/>
          </a:xfrm>
          <a:prstGeom prst="rect">
            <a:avLst/>
          </a:prstGeom>
        </p:spPr>
        <p:txBody>
          <a:bodyPr lIns="0" tIns="0" rIns="0" bIns="0" rtlCol="0" anchor="t">
            <a:spAutoFit/>
          </a:bodyPr>
          <a:lstStyle/>
          <a:p>
            <a:pPr algn="l">
              <a:lnSpc>
                <a:spcPts val="4200"/>
              </a:lnSpc>
              <a:spcBef>
                <a:spcPct val="0"/>
              </a:spcBef>
            </a:pPr>
            <a:r>
              <a:rPr lang="en-US" sz="3000" b="1">
                <a:solidFill>
                  <a:srgbClr val="2A6D72"/>
                </a:solidFill>
                <a:latin typeface="Agrandir Bold"/>
                <a:ea typeface="Agrandir Bold"/>
                <a:cs typeface="Agrandir Bold"/>
                <a:sym typeface="Agrandir Bold"/>
              </a:rPr>
              <a:t>Group 7:</a:t>
            </a:r>
          </a:p>
          <a:p>
            <a:pPr algn="l">
              <a:lnSpc>
                <a:spcPts val="4200"/>
              </a:lnSpc>
              <a:spcBef>
                <a:spcPct val="0"/>
              </a:spcBef>
            </a:pPr>
            <a:r>
              <a:rPr lang="en-US" sz="3000" b="1">
                <a:solidFill>
                  <a:srgbClr val="2A6D72"/>
                </a:solidFill>
                <a:latin typeface="Agrandir Bold"/>
                <a:ea typeface="Agrandir Bold"/>
                <a:cs typeface="Agrandir Bold"/>
                <a:sym typeface="Agrandir Bold"/>
              </a:rPr>
              <a:t>Ch. Sarvani Sruthi - cb.sc.u4aie24311</a:t>
            </a:r>
          </a:p>
          <a:p>
            <a:pPr algn="l">
              <a:lnSpc>
                <a:spcPts val="4200"/>
              </a:lnSpc>
              <a:spcBef>
                <a:spcPct val="0"/>
              </a:spcBef>
            </a:pPr>
            <a:r>
              <a:rPr lang="en-US" sz="3000" b="1">
                <a:solidFill>
                  <a:srgbClr val="2A6D72"/>
                </a:solidFill>
                <a:latin typeface="Agrandir Bold"/>
                <a:ea typeface="Agrandir Bold"/>
                <a:cs typeface="Agrandir Bold"/>
                <a:sym typeface="Agrandir Bold"/>
              </a:rPr>
              <a:t>Poornima P - cb.sc.u4aie24343</a:t>
            </a:r>
          </a:p>
          <a:p>
            <a:pPr algn="l">
              <a:lnSpc>
                <a:spcPts val="4200"/>
              </a:lnSpc>
              <a:spcBef>
                <a:spcPct val="0"/>
              </a:spcBef>
            </a:pPr>
            <a:r>
              <a:rPr lang="en-US" sz="3000" b="1">
                <a:solidFill>
                  <a:srgbClr val="2A6D72"/>
                </a:solidFill>
                <a:latin typeface="Agrandir Bold"/>
                <a:ea typeface="Agrandir Bold"/>
                <a:cs typeface="Agrandir Bold"/>
                <a:sym typeface="Agrandir Bold"/>
              </a:rPr>
              <a:t>Shri Manasa S - cb.sc.u4aie24356</a:t>
            </a:r>
          </a:p>
          <a:p>
            <a:pPr algn="l">
              <a:lnSpc>
                <a:spcPts val="4200"/>
              </a:lnSpc>
              <a:spcBef>
                <a:spcPct val="0"/>
              </a:spcBef>
            </a:pPr>
            <a:r>
              <a:rPr lang="en-US" sz="3000" b="1">
                <a:solidFill>
                  <a:srgbClr val="2A6D72"/>
                </a:solidFill>
                <a:latin typeface="Agrandir Bold"/>
                <a:ea typeface="Agrandir Bold"/>
                <a:cs typeface="Agrandir Bold"/>
                <a:sym typeface="Agrandir Bold"/>
              </a:rPr>
              <a:t>Sowmya A - cb.sc.u4aie24357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352952"/>
            <a:ext cx="2525151" cy="3784287"/>
          </a:xfrm>
          <a:custGeom>
            <a:avLst/>
            <a:gdLst/>
            <a:ahLst/>
            <a:cxnLst/>
            <a:rect l="l" t="t" r="r" b="b"/>
            <a:pathLst>
              <a:path w="2525151" h="3784287">
                <a:moveTo>
                  <a:pt x="0" y="0"/>
                </a:moveTo>
                <a:lnTo>
                  <a:pt x="2525151" y="0"/>
                </a:lnTo>
                <a:lnTo>
                  <a:pt x="2525151" y="3784287"/>
                </a:lnTo>
                <a:lnTo>
                  <a:pt x="0" y="37842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712224" y="860796"/>
            <a:ext cx="5490210" cy="1384300"/>
          </a:xfrm>
          <a:prstGeom prst="rect">
            <a:avLst/>
          </a:prstGeom>
        </p:spPr>
        <p:txBody>
          <a:bodyPr lIns="0" tIns="0" rIns="0" bIns="0" rtlCol="0" anchor="t">
            <a:spAutoFit/>
          </a:bodyPr>
          <a:lstStyle/>
          <a:p>
            <a:pPr algn="ctr">
              <a:lnSpc>
                <a:spcPts val="9799"/>
              </a:lnSpc>
              <a:spcBef>
                <a:spcPct val="0"/>
              </a:spcBef>
            </a:pPr>
            <a:r>
              <a:rPr lang="en-US" sz="6999" b="1" u="sng">
                <a:solidFill>
                  <a:srgbClr val="2A6D72"/>
                </a:solidFill>
                <a:latin typeface="Agrandir Bold"/>
                <a:ea typeface="Agrandir Bold"/>
                <a:cs typeface="Agrandir Bold"/>
                <a:sym typeface="Agrandir Bold"/>
              </a:rPr>
              <a:t>Introduction</a:t>
            </a:r>
          </a:p>
        </p:txBody>
      </p:sp>
      <p:sp>
        <p:nvSpPr>
          <p:cNvPr id="4" name="TextBox 4"/>
          <p:cNvSpPr txBox="1"/>
          <p:nvPr/>
        </p:nvSpPr>
        <p:spPr>
          <a:xfrm>
            <a:off x="1845823" y="2641199"/>
            <a:ext cx="14326233" cy="5967730"/>
          </a:xfrm>
          <a:prstGeom prst="rect">
            <a:avLst/>
          </a:prstGeom>
        </p:spPr>
        <p:txBody>
          <a:bodyPr lIns="0" tIns="0" rIns="0" bIns="0" rtlCol="0" anchor="t">
            <a:spAutoFit/>
          </a:bodyPr>
          <a:lstStyle/>
          <a:p>
            <a:pPr marL="755651" lvl="1" indent="-377825" algn="just">
              <a:lnSpc>
                <a:spcPts val="4235"/>
              </a:lnSpc>
              <a:buFont typeface="Arial"/>
              <a:buChar char="•"/>
            </a:pPr>
            <a:r>
              <a:rPr lang="en-US" sz="3500">
                <a:solidFill>
                  <a:srgbClr val="000000"/>
                </a:solidFill>
                <a:latin typeface="Agrandir"/>
                <a:ea typeface="Agrandir"/>
                <a:cs typeface="Agrandir"/>
                <a:sym typeface="Agrandir"/>
              </a:rPr>
              <a:t>Aircraft engine failures can lead to severe safety risks and high maintenance costs</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Traditional maintenance strategies are:</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Reactive (after failure)</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Schedule-based (fixed intervals)</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These approaches do not utilize real-time sensor data effectively</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Predictive maintenance aims to estimate the Remaining Useful Life (RUL) of equipment before failure</a:t>
            </a:r>
          </a:p>
          <a:p>
            <a:pPr marL="755651" lvl="1" indent="-377825" algn="just">
              <a:lnSpc>
                <a:spcPts val="4235"/>
              </a:lnSpc>
              <a:buFont typeface="Arial"/>
              <a:buChar char="•"/>
            </a:pPr>
            <a:r>
              <a:rPr lang="en-US" sz="3500">
                <a:solidFill>
                  <a:srgbClr val="000000"/>
                </a:solidFill>
                <a:latin typeface="Agrandir"/>
                <a:ea typeface="Agrandir"/>
                <a:cs typeface="Agrandir"/>
                <a:sym typeface="Agrandir"/>
              </a:rPr>
              <a:t>Data-driven deep learning models enable accurate modeling of complex degradation patterns in modern engines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2729021" y="704850"/>
            <a:ext cx="8669060" cy="1384300"/>
          </a:xfrm>
          <a:prstGeom prst="rect">
            <a:avLst/>
          </a:prstGeom>
        </p:spPr>
        <p:txBody>
          <a:bodyPr lIns="0" tIns="0" rIns="0" bIns="0" rtlCol="0" anchor="t">
            <a:spAutoFit/>
          </a:bodyPr>
          <a:lstStyle/>
          <a:p>
            <a:pPr algn="ctr">
              <a:lnSpc>
                <a:spcPts val="9799"/>
              </a:lnSpc>
              <a:spcBef>
                <a:spcPct val="0"/>
              </a:spcBef>
            </a:pPr>
            <a:r>
              <a:rPr lang="en-US" sz="6999" b="1" u="sng">
                <a:solidFill>
                  <a:srgbClr val="2A6D72"/>
                </a:solidFill>
                <a:latin typeface="Agrandir Bold"/>
                <a:ea typeface="Agrandir Bold"/>
                <a:cs typeface="Agrandir Bold"/>
                <a:sym typeface="Agrandir Bold"/>
              </a:rPr>
              <a:t>Problem Statement</a:t>
            </a:r>
          </a:p>
        </p:txBody>
      </p:sp>
      <p:sp>
        <p:nvSpPr>
          <p:cNvPr id="3" name="Freeform 3"/>
          <p:cNvSpPr/>
          <p:nvPr/>
        </p:nvSpPr>
        <p:spPr>
          <a:xfrm>
            <a:off x="0" y="352952"/>
            <a:ext cx="2525151" cy="3784287"/>
          </a:xfrm>
          <a:custGeom>
            <a:avLst/>
            <a:gdLst/>
            <a:ahLst/>
            <a:cxnLst/>
            <a:rect l="l" t="t" r="r" b="b"/>
            <a:pathLst>
              <a:path w="2525151" h="3784287">
                <a:moveTo>
                  <a:pt x="0" y="0"/>
                </a:moveTo>
                <a:lnTo>
                  <a:pt x="2525151" y="0"/>
                </a:lnTo>
                <a:lnTo>
                  <a:pt x="2525151" y="3784287"/>
                </a:lnTo>
                <a:lnTo>
                  <a:pt x="0" y="37842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007421" y="2480310"/>
            <a:ext cx="13831012" cy="6997065"/>
          </a:xfrm>
          <a:prstGeom prst="rect">
            <a:avLst/>
          </a:prstGeom>
        </p:spPr>
        <p:txBody>
          <a:bodyPr lIns="0" tIns="0" rIns="0" bIns="0" rtlCol="0" anchor="t">
            <a:spAutoFit/>
          </a:bodyPr>
          <a:lstStyle/>
          <a:p>
            <a:pPr marL="755651" lvl="1" indent="-377825" algn="l">
              <a:lnSpc>
                <a:spcPts val="3780"/>
              </a:lnSpc>
              <a:buFont typeface="Arial"/>
              <a:buChar char="•"/>
            </a:pPr>
            <a:r>
              <a:rPr lang="en-US" sz="3500">
                <a:solidFill>
                  <a:srgbClr val="000000"/>
                </a:solidFill>
                <a:latin typeface="Agrandir"/>
                <a:ea typeface="Agrandir"/>
                <a:cs typeface="Agrandir"/>
                <a:sym typeface="Agrandir"/>
              </a:rPr>
              <a:t>Aircraft turbofan engines operate under complex mechanical and thermal conditions.</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Continuous sensor measurements generate high-dimensional multivariate time-series data.</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Predicting the Remaining Useful Life (RUL) of an engine is challenging due to:</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Non-linear degradation behavior</a:t>
            </a:r>
          </a:p>
          <a:p>
            <a:pPr marL="755651" lvl="1" indent="-377825" algn="l">
              <a:lnSpc>
                <a:spcPts val="5530"/>
              </a:lnSpc>
              <a:buFont typeface="Arial"/>
              <a:buChar char="•"/>
            </a:pPr>
            <a:r>
              <a:rPr lang="en-US" sz="3500">
                <a:solidFill>
                  <a:srgbClr val="000000"/>
                </a:solidFill>
                <a:latin typeface="Agrandir"/>
                <a:ea typeface="Agrandir"/>
                <a:cs typeface="Agrandir"/>
                <a:sym typeface="Agrandir"/>
              </a:rPr>
              <a:t>Sensor noise and redundancy</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Long-term temporal dependencies</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Manual sensor selection is subjective and may ignore important degradation patterns.</a:t>
            </a:r>
          </a:p>
          <a:p>
            <a:pPr marL="755651" lvl="1" indent="-377825" algn="l">
              <a:lnSpc>
                <a:spcPts val="3780"/>
              </a:lnSpc>
              <a:buFont typeface="Arial"/>
              <a:buChar char="•"/>
            </a:pPr>
            <a:r>
              <a:rPr lang="en-US" sz="3500">
                <a:solidFill>
                  <a:srgbClr val="000000"/>
                </a:solidFill>
                <a:latin typeface="Agrandir"/>
                <a:ea typeface="Agrandir"/>
                <a:cs typeface="Agrandir"/>
                <a:sym typeface="Agrandir"/>
              </a:rPr>
              <a:t>Therefore, there is a need for a data-driven, automated, and robust approach to accurately predict the RUL of turbofan engines using sensor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2957117" y="704850"/>
            <a:ext cx="4720352" cy="1384300"/>
          </a:xfrm>
          <a:prstGeom prst="rect">
            <a:avLst/>
          </a:prstGeom>
        </p:spPr>
        <p:txBody>
          <a:bodyPr lIns="0" tIns="0" rIns="0" bIns="0" rtlCol="0" anchor="t">
            <a:spAutoFit/>
          </a:bodyPr>
          <a:lstStyle/>
          <a:p>
            <a:pPr algn="ctr">
              <a:lnSpc>
                <a:spcPts val="9799"/>
              </a:lnSpc>
              <a:spcBef>
                <a:spcPct val="0"/>
              </a:spcBef>
            </a:pPr>
            <a:r>
              <a:rPr lang="en-US" sz="6999" b="1" u="sng">
                <a:solidFill>
                  <a:srgbClr val="2A6D72"/>
                </a:solidFill>
                <a:latin typeface="Agrandir Bold"/>
                <a:ea typeface="Agrandir Bold"/>
                <a:cs typeface="Agrandir Bold"/>
                <a:sym typeface="Agrandir Bold"/>
              </a:rPr>
              <a:t>Objectives</a:t>
            </a:r>
          </a:p>
        </p:txBody>
      </p:sp>
      <p:sp>
        <p:nvSpPr>
          <p:cNvPr id="3" name="TextBox 3"/>
          <p:cNvSpPr txBox="1"/>
          <p:nvPr/>
        </p:nvSpPr>
        <p:spPr>
          <a:xfrm>
            <a:off x="2525151" y="1936750"/>
            <a:ext cx="14304403" cy="7806957"/>
          </a:xfrm>
          <a:prstGeom prst="rect">
            <a:avLst/>
          </a:prstGeom>
        </p:spPr>
        <p:txBody>
          <a:bodyPr lIns="0" tIns="0" rIns="0" bIns="0" rtlCol="0" anchor="t">
            <a:spAutoFit/>
          </a:bodyPr>
          <a:lstStyle/>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predict the Remaining Useful Life (RUL) of turbofan engines using sensor data.</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perform automatic sensor selection using data-driven degradation metrics.</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capture temporal degradation behavior using deep learning models.</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integrate CNN, Bidirectional LSTM, and Attention mechanisms for improved RUL prediction.</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evaluate model performance using standard metrics such as:</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RMSE</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MAE</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R² Score</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Tolerance-based accuracy</a:t>
            </a:r>
          </a:p>
          <a:p>
            <a:pPr marL="677812" lvl="1" indent="-338906" algn="just">
              <a:lnSpc>
                <a:spcPts val="4395"/>
              </a:lnSpc>
              <a:buFont typeface="Arial"/>
              <a:buChar char="•"/>
            </a:pPr>
            <a:r>
              <a:rPr lang="en-US" sz="3139">
                <a:solidFill>
                  <a:srgbClr val="000000"/>
                </a:solidFill>
                <a:latin typeface="Agrandir"/>
                <a:ea typeface="Agrandir"/>
                <a:cs typeface="Agrandir"/>
                <a:sym typeface="Agrandir"/>
              </a:rPr>
              <a:t>To visualize prediction performance and error characteristics for interpretability.</a:t>
            </a:r>
          </a:p>
        </p:txBody>
      </p:sp>
      <p:sp>
        <p:nvSpPr>
          <p:cNvPr id="4" name="Freeform 4"/>
          <p:cNvSpPr/>
          <p:nvPr/>
        </p:nvSpPr>
        <p:spPr>
          <a:xfrm>
            <a:off x="0" y="427586"/>
            <a:ext cx="2525151" cy="3784287"/>
          </a:xfrm>
          <a:custGeom>
            <a:avLst/>
            <a:gdLst/>
            <a:ahLst/>
            <a:cxnLst/>
            <a:rect l="l" t="t" r="r" b="b"/>
            <a:pathLst>
              <a:path w="2525151" h="3784287">
                <a:moveTo>
                  <a:pt x="0" y="0"/>
                </a:moveTo>
                <a:lnTo>
                  <a:pt x="2525151" y="0"/>
                </a:lnTo>
                <a:lnTo>
                  <a:pt x="2525151" y="3784287"/>
                </a:lnTo>
                <a:lnTo>
                  <a:pt x="0" y="37842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775295" y="715116"/>
            <a:ext cx="6858855" cy="2868248"/>
          </a:xfrm>
          <a:custGeom>
            <a:avLst/>
            <a:gdLst/>
            <a:ahLst/>
            <a:cxnLst/>
            <a:rect l="l" t="t" r="r" b="b"/>
            <a:pathLst>
              <a:path w="6858855" h="2868248">
                <a:moveTo>
                  <a:pt x="0" y="0"/>
                </a:moveTo>
                <a:lnTo>
                  <a:pt x="6858854" y="0"/>
                </a:lnTo>
                <a:lnTo>
                  <a:pt x="6858854"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361651" y="5575361"/>
            <a:ext cx="4409688" cy="4959772"/>
          </a:xfrm>
          <a:custGeom>
            <a:avLst/>
            <a:gdLst/>
            <a:ahLst/>
            <a:cxnLst/>
            <a:rect l="l" t="t" r="r" b="b"/>
            <a:pathLst>
              <a:path w="4409688" h="4959772">
                <a:moveTo>
                  <a:pt x="0" y="0"/>
                </a:moveTo>
                <a:lnTo>
                  <a:pt x="4409688" y="0"/>
                </a:lnTo>
                <a:lnTo>
                  <a:pt x="4409688" y="4959772"/>
                </a:lnTo>
                <a:lnTo>
                  <a:pt x="0" y="49597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997031" y="464291"/>
            <a:ext cx="8109718" cy="3391337"/>
          </a:xfrm>
          <a:custGeom>
            <a:avLst/>
            <a:gdLst/>
            <a:ahLst/>
            <a:cxnLst/>
            <a:rect l="l" t="t" r="r" b="b"/>
            <a:pathLst>
              <a:path w="8109718" h="3391337">
                <a:moveTo>
                  <a:pt x="0" y="0"/>
                </a:moveTo>
                <a:lnTo>
                  <a:pt x="8109718" y="0"/>
                </a:lnTo>
                <a:lnTo>
                  <a:pt x="8109718" y="3391337"/>
                </a:lnTo>
                <a:lnTo>
                  <a:pt x="0" y="33913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0" y="427586"/>
            <a:ext cx="2525151" cy="3784287"/>
          </a:xfrm>
          <a:custGeom>
            <a:avLst/>
            <a:gdLst/>
            <a:ahLst/>
            <a:cxnLst/>
            <a:rect l="l" t="t" r="r" b="b"/>
            <a:pathLst>
              <a:path w="2525151" h="3784287">
                <a:moveTo>
                  <a:pt x="0" y="0"/>
                </a:moveTo>
                <a:lnTo>
                  <a:pt x="2525151" y="0"/>
                </a:lnTo>
                <a:lnTo>
                  <a:pt x="2525151" y="3784287"/>
                </a:lnTo>
                <a:lnTo>
                  <a:pt x="0" y="37842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2889769" y="771525"/>
            <a:ext cx="10107261" cy="916982"/>
          </a:xfrm>
          <a:prstGeom prst="rect">
            <a:avLst/>
          </a:prstGeom>
        </p:spPr>
        <p:txBody>
          <a:bodyPr wrap="square" lIns="0" tIns="0" rIns="0" bIns="0" rtlCol="0" anchor="t">
            <a:spAutoFit/>
          </a:bodyPr>
          <a:lstStyle/>
          <a:p>
            <a:pPr algn="ctr">
              <a:lnSpc>
                <a:spcPts val="7560"/>
              </a:lnSpc>
              <a:spcBef>
                <a:spcPct val="0"/>
              </a:spcBef>
            </a:pPr>
            <a:r>
              <a:rPr lang="en-US" sz="5400" b="1" u="sng" dirty="0">
                <a:solidFill>
                  <a:srgbClr val="2A6D72"/>
                </a:solidFill>
                <a:latin typeface="Agrandir Bold"/>
                <a:ea typeface="Agrandir Bold"/>
                <a:cs typeface="Agrandir Bold"/>
                <a:sym typeface="Agrandir Bold"/>
              </a:rPr>
              <a:t>NASA C-MAPSS Dataset</a:t>
            </a:r>
          </a:p>
        </p:txBody>
      </p:sp>
      <p:sp>
        <p:nvSpPr>
          <p:cNvPr id="7" name="TextBox 7"/>
          <p:cNvSpPr txBox="1"/>
          <p:nvPr/>
        </p:nvSpPr>
        <p:spPr>
          <a:xfrm>
            <a:off x="9139238" y="4441825"/>
            <a:ext cx="9525" cy="701675"/>
          </a:xfrm>
          <a:prstGeom prst="rect">
            <a:avLst/>
          </a:prstGeom>
        </p:spPr>
        <p:txBody>
          <a:bodyPr lIns="0" tIns="0" rIns="0" bIns="0" rtlCol="0" anchor="t">
            <a:spAutoFit/>
          </a:bodyPr>
          <a:lstStyle/>
          <a:p>
            <a:pPr algn="ctr">
              <a:lnSpc>
                <a:spcPts val="4900"/>
              </a:lnSpc>
              <a:spcBef>
                <a:spcPct val="0"/>
              </a:spcBef>
            </a:pPr>
            <a:endParaRPr/>
          </a:p>
        </p:txBody>
      </p:sp>
      <p:sp>
        <p:nvSpPr>
          <p:cNvPr id="8" name="TextBox 8"/>
          <p:cNvSpPr txBox="1"/>
          <p:nvPr/>
        </p:nvSpPr>
        <p:spPr>
          <a:xfrm>
            <a:off x="1885297" y="2224479"/>
            <a:ext cx="14101133" cy="5866765"/>
          </a:xfrm>
          <a:prstGeom prst="rect">
            <a:avLst/>
          </a:prstGeom>
        </p:spPr>
        <p:txBody>
          <a:bodyPr lIns="0" tIns="0" rIns="0" bIns="0" rtlCol="0" anchor="t">
            <a:spAutoFit/>
          </a:bodyPr>
          <a:lstStyle/>
          <a:p>
            <a:pPr marL="755651" lvl="1" indent="-377825" algn="l">
              <a:lnSpc>
                <a:spcPts val="4130"/>
              </a:lnSpc>
              <a:buFont typeface="Arial"/>
              <a:buChar char="•"/>
            </a:pPr>
            <a:r>
              <a:rPr lang="en-US" sz="3500">
                <a:solidFill>
                  <a:srgbClr val="000000"/>
                </a:solidFill>
                <a:latin typeface="Agrandir"/>
                <a:ea typeface="Agrandir"/>
                <a:cs typeface="Agrandir"/>
                <a:sym typeface="Agrandir"/>
              </a:rPr>
              <a:t>The C-MAPSS (Commercial Modular Aero-Propulsion System Simulation) dataset is developed by NASA.</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It simulates degradation of turbofan aircraft engines until failure.</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Widely used for:</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Remaining Useful Life (RUL) prediction</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The dataset is divided into four sub-datasets:</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FD001</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FD002</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FD003</a:t>
            </a:r>
          </a:p>
          <a:p>
            <a:pPr marL="755651" lvl="1" indent="-377825" algn="l">
              <a:lnSpc>
                <a:spcPts val="4130"/>
              </a:lnSpc>
              <a:buFont typeface="Arial"/>
              <a:buChar char="•"/>
            </a:pPr>
            <a:r>
              <a:rPr lang="en-US" sz="3500">
                <a:solidFill>
                  <a:srgbClr val="000000"/>
                </a:solidFill>
                <a:latin typeface="Agrandir"/>
                <a:ea typeface="Agrandir"/>
                <a:cs typeface="Agrandir"/>
                <a:sym typeface="Agrandir"/>
              </a:rPr>
              <a:t>FD004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3330999" y="3424190"/>
            <a:ext cx="13249761" cy="7100622"/>
          </a:xfrm>
          <a:custGeom>
            <a:avLst/>
            <a:gdLst/>
            <a:ahLst/>
            <a:cxnLst/>
            <a:rect l="l" t="t" r="r" b="b"/>
            <a:pathLst>
              <a:path w="13249761" h="7100622">
                <a:moveTo>
                  <a:pt x="0" y="0"/>
                </a:moveTo>
                <a:lnTo>
                  <a:pt x="13249761" y="0"/>
                </a:lnTo>
                <a:lnTo>
                  <a:pt x="13249761" y="7100622"/>
                </a:lnTo>
                <a:lnTo>
                  <a:pt x="0" y="71006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92363" y="598163"/>
            <a:ext cx="10261587" cy="978858"/>
          </a:xfrm>
          <a:prstGeom prst="rect">
            <a:avLst/>
          </a:prstGeom>
        </p:spPr>
        <p:txBody>
          <a:bodyPr wrap="square" lIns="0" tIns="0" rIns="0" bIns="0" rtlCol="0" anchor="t">
            <a:spAutoFit/>
          </a:bodyPr>
          <a:lstStyle/>
          <a:p>
            <a:pPr algn="ctr">
              <a:lnSpc>
                <a:spcPts val="8120"/>
              </a:lnSpc>
              <a:spcBef>
                <a:spcPct val="0"/>
              </a:spcBef>
            </a:pPr>
            <a:r>
              <a:rPr lang="en-US" sz="5800" b="1" u="sng" dirty="0">
                <a:solidFill>
                  <a:srgbClr val="2A6D72"/>
                </a:solidFill>
                <a:latin typeface="Agrandir Bold"/>
                <a:ea typeface="Agrandir Bold"/>
                <a:cs typeface="Agrandir Bold"/>
                <a:sym typeface="Agrandir Bold"/>
              </a:rPr>
              <a:t>Each sub-dataset contains:</a:t>
            </a:r>
          </a:p>
        </p:txBody>
      </p:sp>
      <p:sp>
        <p:nvSpPr>
          <p:cNvPr id="4" name="TextBox 4"/>
          <p:cNvSpPr txBox="1"/>
          <p:nvPr/>
        </p:nvSpPr>
        <p:spPr>
          <a:xfrm>
            <a:off x="592363" y="1980632"/>
            <a:ext cx="8263931" cy="6273800"/>
          </a:xfrm>
          <a:prstGeom prst="rect">
            <a:avLst/>
          </a:prstGeom>
        </p:spPr>
        <p:txBody>
          <a:bodyPr lIns="0" tIns="0" rIns="0" bIns="0" rtlCol="0" anchor="t">
            <a:spAutoFit/>
          </a:bodyPr>
          <a:lstStyle/>
          <a:p>
            <a:pPr marL="755651" lvl="1" indent="-377825" algn="just">
              <a:lnSpc>
                <a:spcPts val="4900"/>
              </a:lnSpc>
              <a:buFont typeface="Arial"/>
              <a:buChar char="•"/>
            </a:pPr>
            <a:r>
              <a:rPr lang="en-US" sz="3500">
                <a:solidFill>
                  <a:srgbClr val="000000"/>
                </a:solidFill>
                <a:latin typeface="Agrandir"/>
                <a:ea typeface="Agrandir"/>
                <a:cs typeface="Agrandir"/>
                <a:sym typeface="Agrandir"/>
              </a:rPr>
              <a:t>Engine ID – Unique engine identifier</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Cycle Number – Time index of engine operation</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Operating Conditions:</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Op1</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Op2</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Op3</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Sensor Measurements:</a:t>
            </a:r>
          </a:p>
          <a:p>
            <a:pPr marL="755651" lvl="1" indent="-377825" algn="just">
              <a:lnSpc>
                <a:spcPts val="4900"/>
              </a:lnSpc>
              <a:buFont typeface="Arial"/>
              <a:buChar char="•"/>
            </a:pPr>
            <a:r>
              <a:rPr lang="en-US" sz="3500">
                <a:solidFill>
                  <a:srgbClr val="000000"/>
                </a:solidFill>
                <a:latin typeface="Agrandir"/>
                <a:ea typeface="Agrandir"/>
                <a:cs typeface="Agrandir"/>
                <a:sym typeface="Agrandir"/>
              </a:rPr>
              <a:t>21 sensors monitoring engine health</a:t>
            </a:r>
          </a:p>
          <a:p>
            <a:pPr algn="just">
              <a:lnSpc>
                <a:spcPts val="4900"/>
              </a:lnSpc>
            </a:pPr>
            <a:endParaRPr lang="en-US" sz="3500">
              <a:solidFill>
                <a:srgbClr val="000000"/>
              </a:solidFill>
              <a:latin typeface="Agrandir"/>
              <a:ea typeface="Agrandir"/>
              <a:cs typeface="Agrandir"/>
              <a:sym typeface="Agrandir"/>
            </a:endParaRPr>
          </a:p>
        </p:txBody>
      </p:sp>
      <p:sp>
        <p:nvSpPr>
          <p:cNvPr id="5" name="TextBox 5"/>
          <p:cNvSpPr txBox="1"/>
          <p:nvPr/>
        </p:nvSpPr>
        <p:spPr>
          <a:xfrm>
            <a:off x="10853950" y="582363"/>
            <a:ext cx="6405350" cy="9098912"/>
          </a:xfrm>
          <a:prstGeom prst="rect">
            <a:avLst/>
          </a:prstGeom>
        </p:spPr>
        <p:txBody>
          <a:bodyPr lIns="0" tIns="0" rIns="0" bIns="0" rtlCol="0" anchor="t">
            <a:spAutoFit/>
          </a:bodyPr>
          <a:lstStyle/>
          <a:p>
            <a:pPr algn="l">
              <a:lnSpc>
                <a:spcPts val="4200"/>
              </a:lnSpc>
            </a:pPr>
            <a:r>
              <a:rPr lang="en-US" sz="3000">
                <a:solidFill>
                  <a:srgbClr val="000000"/>
                </a:solidFill>
                <a:latin typeface="Agrandir"/>
                <a:ea typeface="Agrandir"/>
                <a:cs typeface="Agrandir"/>
                <a:sym typeface="Agrandir"/>
              </a:rPr>
              <a:t>FD002 – Dataset Description</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Operating Conditions: Multiple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Fault Modes: Single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Environmental Variability: Present</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Complexity Level: Medium</a:t>
            </a:r>
          </a:p>
          <a:p>
            <a:pPr algn="l">
              <a:lnSpc>
                <a:spcPts val="4200"/>
              </a:lnSpc>
            </a:pPr>
            <a:r>
              <a:rPr lang="en-US" sz="3000">
                <a:solidFill>
                  <a:srgbClr val="000000"/>
                </a:solidFill>
                <a:latin typeface="Agrandir"/>
                <a:ea typeface="Agrandir"/>
                <a:cs typeface="Agrandir"/>
                <a:sym typeface="Agrandir"/>
              </a:rPr>
              <a:t> FD003 – Dataset Description</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Operating Conditions: Single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Fault Modes: Multiple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Environmental Variability: None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Complexity Level: Medium</a:t>
            </a:r>
          </a:p>
          <a:p>
            <a:pPr algn="l">
              <a:lnSpc>
                <a:spcPts val="4200"/>
              </a:lnSpc>
            </a:pPr>
            <a:r>
              <a:rPr lang="en-US" sz="3000">
                <a:solidFill>
                  <a:srgbClr val="000000"/>
                </a:solidFill>
                <a:latin typeface="Agrandir"/>
                <a:ea typeface="Agrandir"/>
                <a:cs typeface="Agrandir"/>
                <a:sym typeface="Agrandir"/>
              </a:rPr>
              <a:t> FD004 – Dataset Description</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Operating Conditions: Multiple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Fault Modes: Multiple</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Environmental Variability: High</a:t>
            </a:r>
          </a:p>
          <a:p>
            <a:pPr marL="647721" lvl="1" indent="-323861" algn="l">
              <a:lnSpc>
                <a:spcPts val="4200"/>
              </a:lnSpc>
              <a:buFont typeface="Arial"/>
              <a:buChar char="•"/>
            </a:pPr>
            <a:r>
              <a:rPr lang="en-US" sz="3000">
                <a:solidFill>
                  <a:srgbClr val="000000"/>
                </a:solidFill>
                <a:latin typeface="Agrandir"/>
                <a:ea typeface="Agrandir"/>
                <a:cs typeface="Agrandir"/>
                <a:sym typeface="Agrandir"/>
              </a:rPr>
              <a:t>Complexity Level: High</a:t>
            </a:r>
          </a:p>
          <a:p>
            <a:pPr algn="ctr">
              <a:lnSpc>
                <a:spcPts val="3920"/>
              </a:lnSpc>
              <a:spcBef>
                <a:spcPct val="0"/>
              </a:spcBef>
            </a:pPr>
            <a:endParaRPr lang="en-US" sz="3000">
              <a:solidFill>
                <a:srgbClr val="000000"/>
              </a:solidFill>
              <a:latin typeface="Agrandir"/>
              <a:ea typeface="Agrandir"/>
              <a:cs typeface="Agrandir"/>
              <a:sym typeface="Agrandi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3063531" y="2244724"/>
            <a:ext cx="6127061" cy="6505567"/>
          </a:xfrm>
          <a:custGeom>
            <a:avLst/>
            <a:gdLst/>
            <a:ahLst/>
            <a:cxnLst/>
            <a:rect l="l" t="t" r="r" b="b"/>
            <a:pathLst>
              <a:path w="6127061" h="6505567">
                <a:moveTo>
                  <a:pt x="0" y="0"/>
                </a:moveTo>
                <a:lnTo>
                  <a:pt x="6127062" y="0"/>
                </a:lnTo>
                <a:lnTo>
                  <a:pt x="6127062" y="6505568"/>
                </a:lnTo>
                <a:lnTo>
                  <a:pt x="0" y="6505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466202" y="1028700"/>
            <a:ext cx="7247641" cy="5073349"/>
          </a:xfrm>
          <a:custGeom>
            <a:avLst/>
            <a:gdLst/>
            <a:ahLst/>
            <a:cxnLst/>
            <a:rect l="l" t="t" r="r" b="b"/>
            <a:pathLst>
              <a:path w="7247641" h="5073349">
                <a:moveTo>
                  <a:pt x="0" y="0"/>
                </a:moveTo>
                <a:lnTo>
                  <a:pt x="7247641" y="0"/>
                </a:lnTo>
                <a:lnTo>
                  <a:pt x="7247641" y="5073349"/>
                </a:lnTo>
                <a:lnTo>
                  <a:pt x="0" y="50733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0" y="1520964"/>
            <a:ext cx="18288000" cy="7953088"/>
          </a:xfrm>
          <a:custGeom>
            <a:avLst/>
            <a:gdLst/>
            <a:ahLst/>
            <a:cxnLst/>
            <a:rect l="l" t="t" r="r" b="b"/>
            <a:pathLst>
              <a:path w="19489181" h="7953088">
                <a:moveTo>
                  <a:pt x="0" y="0"/>
                </a:moveTo>
                <a:lnTo>
                  <a:pt x="19489182" y="0"/>
                </a:lnTo>
                <a:lnTo>
                  <a:pt x="19489182" y="7953088"/>
                </a:lnTo>
                <a:lnTo>
                  <a:pt x="0" y="7953088"/>
                </a:lnTo>
                <a:lnTo>
                  <a:pt x="0" y="0"/>
                </a:lnTo>
                <a:close/>
              </a:path>
            </a:pathLst>
          </a:custGeom>
          <a:blipFill>
            <a:blip r:embed="rId6"/>
            <a:stretch>
              <a:fillRect t="-10374" b="-8782"/>
            </a:stretch>
          </a:blipFill>
        </p:spPr>
      </p:sp>
      <p:grpSp>
        <p:nvGrpSpPr>
          <p:cNvPr id="5" name="Group 5"/>
          <p:cNvGrpSpPr/>
          <p:nvPr/>
        </p:nvGrpSpPr>
        <p:grpSpPr>
          <a:xfrm>
            <a:off x="6993179" y="7332089"/>
            <a:ext cx="1793157" cy="547493"/>
            <a:chOff x="0" y="0"/>
            <a:chExt cx="472272" cy="144196"/>
          </a:xfrm>
        </p:grpSpPr>
        <p:sp>
          <p:nvSpPr>
            <p:cNvPr id="6" name="Freeform 6"/>
            <p:cNvSpPr/>
            <p:nvPr/>
          </p:nvSpPr>
          <p:spPr>
            <a:xfrm>
              <a:off x="0" y="0"/>
              <a:ext cx="472272" cy="144196"/>
            </a:xfrm>
            <a:custGeom>
              <a:avLst/>
              <a:gdLst/>
              <a:ahLst/>
              <a:cxnLst/>
              <a:rect l="l" t="t" r="r" b="b"/>
              <a:pathLst>
                <a:path w="472272" h="144196">
                  <a:moveTo>
                    <a:pt x="0" y="0"/>
                  </a:moveTo>
                  <a:lnTo>
                    <a:pt x="472272" y="0"/>
                  </a:lnTo>
                  <a:lnTo>
                    <a:pt x="472272" y="144196"/>
                  </a:lnTo>
                  <a:lnTo>
                    <a:pt x="0" y="144196"/>
                  </a:lnTo>
                  <a:close/>
                </a:path>
              </a:pathLst>
            </a:custGeom>
            <a:solidFill>
              <a:srgbClr val="FFFFFF"/>
            </a:solidFill>
          </p:spPr>
        </p:sp>
        <p:sp>
          <p:nvSpPr>
            <p:cNvPr id="7" name="TextBox 7"/>
            <p:cNvSpPr txBox="1"/>
            <p:nvPr/>
          </p:nvSpPr>
          <p:spPr>
            <a:xfrm>
              <a:off x="0" y="-38100"/>
              <a:ext cx="472272" cy="182296"/>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8786336" y="9470882"/>
            <a:ext cx="715327" cy="531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fig 1</a:t>
            </a:r>
          </a:p>
        </p:txBody>
      </p:sp>
      <p:sp>
        <p:nvSpPr>
          <p:cNvPr id="9" name="TextBox 9"/>
          <p:cNvSpPr txBox="1"/>
          <p:nvPr/>
        </p:nvSpPr>
        <p:spPr>
          <a:xfrm>
            <a:off x="366793" y="5716"/>
            <a:ext cx="4657834" cy="1022984"/>
          </a:xfrm>
          <a:prstGeom prst="rect">
            <a:avLst/>
          </a:prstGeom>
        </p:spPr>
        <p:txBody>
          <a:bodyPr lIns="0" tIns="0" rIns="0" bIns="0" rtlCol="0" anchor="t">
            <a:spAutoFit/>
          </a:bodyPr>
          <a:lstStyle/>
          <a:p>
            <a:pPr algn="ctr">
              <a:lnSpc>
                <a:spcPts val="7140"/>
              </a:lnSpc>
              <a:spcBef>
                <a:spcPct val="0"/>
              </a:spcBef>
            </a:pPr>
            <a:r>
              <a:rPr lang="en-US" sz="5100" b="1" u="sng">
                <a:solidFill>
                  <a:srgbClr val="33858B"/>
                </a:solidFill>
                <a:latin typeface="Agrandir Bold"/>
                <a:ea typeface="Agrandir Bold"/>
                <a:cs typeface="Agrandir Bold"/>
                <a:sym typeface="Agrandir Bold"/>
              </a:rPr>
              <a:t>Flow Chart</a:t>
            </a:r>
          </a:p>
        </p:txBody>
      </p:sp>
      <p:grpSp>
        <p:nvGrpSpPr>
          <p:cNvPr id="10" name="Group 10"/>
          <p:cNvGrpSpPr/>
          <p:nvPr/>
        </p:nvGrpSpPr>
        <p:grpSpPr>
          <a:xfrm>
            <a:off x="5367286" y="2487261"/>
            <a:ext cx="2130808" cy="3293717"/>
            <a:chOff x="0" y="0"/>
            <a:chExt cx="561200" cy="867481"/>
          </a:xfrm>
        </p:grpSpPr>
        <p:sp>
          <p:nvSpPr>
            <p:cNvPr id="11" name="Freeform 11"/>
            <p:cNvSpPr/>
            <p:nvPr/>
          </p:nvSpPr>
          <p:spPr>
            <a:xfrm>
              <a:off x="0" y="0"/>
              <a:ext cx="561200" cy="867481"/>
            </a:xfrm>
            <a:custGeom>
              <a:avLst/>
              <a:gdLst/>
              <a:ahLst/>
              <a:cxnLst/>
              <a:rect l="l" t="t" r="r" b="b"/>
              <a:pathLst>
                <a:path w="561200" h="867481">
                  <a:moveTo>
                    <a:pt x="0" y="0"/>
                  </a:moveTo>
                  <a:lnTo>
                    <a:pt x="561200" y="0"/>
                  </a:lnTo>
                  <a:lnTo>
                    <a:pt x="561200" y="867481"/>
                  </a:lnTo>
                  <a:lnTo>
                    <a:pt x="0" y="867481"/>
                  </a:lnTo>
                  <a:close/>
                </a:path>
              </a:pathLst>
            </a:custGeom>
            <a:solidFill>
              <a:srgbClr val="FFFFFF"/>
            </a:solidFill>
          </p:spPr>
        </p:sp>
        <p:sp>
          <p:nvSpPr>
            <p:cNvPr id="12" name="TextBox 12"/>
            <p:cNvSpPr txBox="1"/>
            <p:nvPr/>
          </p:nvSpPr>
          <p:spPr>
            <a:xfrm>
              <a:off x="0" y="-38100"/>
              <a:ext cx="561200" cy="905581"/>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702420" y="1279944"/>
            <a:ext cx="14231336" cy="7720686"/>
          </a:xfrm>
          <a:prstGeom prst="rect">
            <a:avLst/>
          </a:prstGeom>
        </p:spPr>
        <p:txBody>
          <a:bodyPr lIns="0" tIns="0" rIns="0" bIns="0" rtlCol="0" anchor="t">
            <a:spAutoFit/>
          </a:bodyPr>
          <a:lstStyle/>
          <a:p>
            <a:pPr algn="ctr">
              <a:lnSpc>
                <a:spcPts val="5274"/>
              </a:lnSpc>
            </a:pPr>
            <a:endParaRPr/>
          </a:p>
          <a:p>
            <a:pPr algn="l">
              <a:lnSpc>
                <a:spcPts val="4625"/>
              </a:lnSpc>
            </a:pPr>
            <a:endParaRPr/>
          </a:p>
          <a:p>
            <a:pPr marL="713365" lvl="1" indent="-356683" algn="l">
              <a:lnSpc>
                <a:spcPts val="4625"/>
              </a:lnSpc>
              <a:buFont typeface="Arial"/>
              <a:buChar char="•"/>
            </a:pPr>
            <a:r>
              <a:rPr lang="en-US" sz="3304">
                <a:solidFill>
                  <a:srgbClr val="000000"/>
                </a:solidFill>
                <a:latin typeface="Agrandir"/>
                <a:ea typeface="Agrandir"/>
                <a:cs typeface="Agrandir"/>
                <a:sym typeface="Agrandir"/>
              </a:rPr>
              <a:t>The proposed methodology follows a data-driven approach for Remaining Useful Life (RUL) prediction of turbofan engines.</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Multivariate sensor time-series data is processed through multiple stages:</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Data preprocessing</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Automatic sensor selection</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Feature normalization</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Time-series modeling</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Deep learning-based prediction</a:t>
            </a:r>
          </a:p>
          <a:p>
            <a:pPr marL="713365" lvl="1" indent="-356683" algn="l">
              <a:lnSpc>
                <a:spcPts val="4625"/>
              </a:lnSpc>
              <a:buFont typeface="Arial"/>
              <a:buChar char="•"/>
            </a:pPr>
            <a:r>
              <a:rPr lang="en-US" sz="3304">
                <a:solidFill>
                  <a:srgbClr val="000000"/>
                </a:solidFill>
                <a:latin typeface="Agrandir"/>
                <a:ea typeface="Agrandir"/>
                <a:cs typeface="Agrandir"/>
                <a:sym typeface="Agrandir"/>
              </a:rPr>
              <a:t>A hybrid CNN–BiLSTM–Attention architecture is employed to model degradation behavior effectively.</a:t>
            </a:r>
          </a:p>
        </p:txBody>
      </p:sp>
      <p:sp>
        <p:nvSpPr>
          <p:cNvPr id="3" name="TextBox 3"/>
          <p:cNvSpPr txBox="1"/>
          <p:nvPr/>
        </p:nvSpPr>
        <p:spPr>
          <a:xfrm>
            <a:off x="1028700" y="1203744"/>
            <a:ext cx="9639300" cy="858568"/>
          </a:xfrm>
          <a:prstGeom prst="rect">
            <a:avLst/>
          </a:prstGeom>
        </p:spPr>
        <p:txBody>
          <a:bodyPr wrap="square" lIns="0" tIns="0" rIns="0" bIns="0" rtlCol="0" anchor="t">
            <a:spAutoFit/>
          </a:bodyPr>
          <a:lstStyle/>
          <a:p>
            <a:pPr algn="ctr">
              <a:lnSpc>
                <a:spcPts val="7140"/>
              </a:lnSpc>
              <a:spcBef>
                <a:spcPct val="0"/>
              </a:spcBef>
            </a:pPr>
            <a:r>
              <a:rPr lang="en-US" sz="5100" b="1" u="sng" dirty="0">
                <a:solidFill>
                  <a:srgbClr val="2A6D72"/>
                </a:solidFill>
                <a:latin typeface="Agrandir Bold"/>
                <a:ea typeface="Agrandir Bold"/>
                <a:cs typeface="Agrandir Bold"/>
                <a:sym typeface="Agrandir Bold"/>
              </a:rPr>
              <a:t>Methodology Overview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2188964" y="2233646"/>
            <a:ext cx="5538762" cy="1632414"/>
          </a:xfrm>
          <a:custGeom>
            <a:avLst/>
            <a:gdLst/>
            <a:ahLst/>
            <a:cxnLst/>
            <a:rect l="l" t="t" r="r" b="b"/>
            <a:pathLst>
              <a:path w="5538762" h="1632414">
                <a:moveTo>
                  <a:pt x="0" y="0"/>
                </a:moveTo>
                <a:lnTo>
                  <a:pt x="5538761" y="0"/>
                </a:lnTo>
                <a:lnTo>
                  <a:pt x="5538761" y="1632414"/>
                </a:lnTo>
                <a:lnTo>
                  <a:pt x="0" y="1632414"/>
                </a:lnTo>
                <a:lnTo>
                  <a:pt x="0" y="0"/>
                </a:lnTo>
                <a:close/>
              </a:path>
            </a:pathLst>
          </a:custGeom>
          <a:blipFill>
            <a:blip r:embed="rId2"/>
            <a:stretch>
              <a:fillRect t="-3945" b="-6750"/>
            </a:stretch>
          </a:blipFill>
        </p:spPr>
      </p:sp>
      <p:sp>
        <p:nvSpPr>
          <p:cNvPr id="3" name="Freeform 3"/>
          <p:cNvSpPr/>
          <p:nvPr/>
        </p:nvSpPr>
        <p:spPr>
          <a:xfrm>
            <a:off x="10767146" y="2472165"/>
            <a:ext cx="5447431" cy="1423203"/>
          </a:xfrm>
          <a:custGeom>
            <a:avLst/>
            <a:gdLst/>
            <a:ahLst/>
            <a:cxnLst/>
            <a:rect l="l" t="t" r="r" b="b"/>
            <a:pathLst>
              <a:path w="5447431" h="1423203">
                <a:moveTo>
                  <a:pt x="0" y="0"/>
                </a:moveTo>
                <a:lnTo>
                  <a:pt x="5447431" y="0"/>
                </a:lnTo>
                <a:lnTo>
                  <a:pt x="5447431" y="1423202"/>
                </a:lnTo>
                <a:lnTo>
                  <a:pt x="0" y="1423202"/>
                </a:lnTo>
                <a:lnTo>
                  <a:pt x="0" y="0"/>
                </a:lnTo>
                <a:close/>
              </a:path>
            </a:pathLst>
          </a:custGeom>
          <a:blipFill>
            <a:blip r:embed="rId3"/>
            <a:stretch>
              <a:fillRect/>
            </a:stretch>
          </a:blipFill>
        </p:spPr>
      </p:sp>
      <p:sp>
        <p:nvSpPr>
          <p:cNvPr id="4" name="Freeform 4"/>
          <p:cNvSpPr/>
          <p:nvPr/>
        </p:nvSpPr>
        <p:spPr>
          <a:xfrm>
            <a:off x="10767146" y="4196481"/>
            <a:ext cx="5447431" cy="1509502"/>
          </a:xfrm>
          <a:custGeom>
            <a:avLst/>
            <a:gdLst/>
            <a:ahLst/>
            <a:cxnLst/>
            <a:rect l="l" t="t" r="r" b="b"/>
            <a:pathLst>
              <a:path w="5447431" h="1509502">
                <a:moveTo>
                  <a:pt x="0" y="0"/>
                </a:moveTo>
                <a:lnTo>
                  <a:pt x="5447431" y="0"/>
                </a:lnTo>
                <a:lnTo>
                  <a:pt x="5447431" y="1509502"/>
                </a:lnTo>
                <a:lnTo>
                  <a:pt x="0" y="1509502"/>
                </a:lnTo>
                <a:lnTo>
                  <a:pt x="0" y="0"/>
                </a:lnTo>
                <a:close/>
              </a:path>
            </a:pathLst>
          </a:custGeom>
          <a:blipFill>
            <a:blip r:embed="rId4"/>
            <a:stretch>
              <a:fillRect t="-6700" b="-27602"/>
            </a:stretch>
          </a:blipFill>
        </p:spPr>
      </p:sp>
      <p:sp>
        <p:nvSpPr>
          <p:cNvPr id="5" name="Freeform 5"/>
          <p:cNvSpPr/>
          <p:nvPr/>
        </p:nvSpPr>
        <p:spPr>
          <a:xfrm>
            <a:off x="1228082" y="7520339"/>
            <a:ext cx="8659966" cy="1331470"/>
          </a:xfrm>
          <a:custGeom>
            <a:avLst/>
            <a:gdLst/>
            <a:ahLst/>
            <a:cxnLst/>
            <a:rect l="l" t="t" r="r" b="b"/>
            <a:pathLst>
              <a:path w="8659966" h="1331470">
                <a:moveTo>
                  <a:pt x="0" y="0"/>
                </a:moveTo>
                <a:lnTo>
                  <a:pt x="8659966" y="0"/>
                </a:lnTo>
                <a:lnTo>
                  <a:pt x="8659966" y="1331470"/>
                </a:lnTo>
                <a:lnTo>
                  <a:pt x="0" y="1331470"/>
                </a:lnTo>
                <a:lnTo>
                  <a:pt x="0" y="0"/>
                </a:lnTo>
                <a:close/>
              </a:path>
            </a:pathLst>
          </a:custGeom>
          <a:blipFill>
            <a:blip r:embed="rId5"/>
            <a:stretch>
              <a:fillRect/>
            </a:stretch>
          </a:blipFill>
          <a:ln w="38100" cap="sq">
            <a:solidFill>
              <a:srgbClr val="000000"/>
            </a:solidFill>
            <a:prstDash val="solid"/>
            <a:miter/>
          </a:ln>
        </p:spPr>
      </p:sp>
      <p:grpSp>
        <p:nvGrpSpPr>
          <p:cNvPr id="6" name="Group 6"/>
          <p:cNvGrpSpPr/>
          <p:nvPr/>
        </p:nvGrpSpPr>
        <p:grpSpPr>
          <a:xfrm>
            <a:off x="8855417" y="8186074"/>
            <a:ext cx="577913" cy="393601"/>
            <a:chOff x="0" y="0"/>
            <a:chExt cx="152208" cy="103665"/>
          </a:xfrm>
        </p:grpSpPr>
        <p:sp>
          <p:nvSpPr>
            <p:cNvPr id="7" name="Freeform 7"/>
            <p:cNvSpPr/>
            <p:nvPr/>
          </p:nvSpPr>
          <p:spPr>
            <a:xfrm>
              <a:off x="0" y="0"/>
              <a:ext cx="152208" cy="103665"/>
            </a:xfrm>
            <a:custGeom>
              <a:avLst/>
              <a:gdLst/>
              <a:ahLst/>
              <a:cxnLst/>
              <a:rect l="l" t="t" r="r" b="b"/>
              <a:pathLst>
                <a:path w="152208" h="103665">
                  <a:moveTo>
                    <a:pt x="0" y="0"/>
                  </a:moveTo>
                  <a:lnTo>
                    <a:pt x="152208" y="0"/>
                  </a:lnTo>
                  <a:lnTo>
                    <a:pt x="152208" y="103665"/>
                  </a:lnTo>
                  <a:lnTo>
                    <a:pt x="0" y="103665"/>
                  </a:lnTo>
                  <a:close/>
                </a:path>
              </a:pathLst>
            </a:custGeom>
            <a:solidFill>
              <a:srgbClr val="000000"/>
            </a:solidFill>
          </p:spPr>
        </p:sp>
        <p:sp>
          <p:nvSpPr>
            <p:cNvPr id="8" name="TextBox 8"/>
            <p:cNvSpPr txBox="1"/>
            <p:nvPr/>
          </p:nvSpPr>
          <p:spPr>
            <a:xfrm>
              <a:off x="0" y="-38100"/>
              <a:ext cx="152208" cy="14176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855720" y="511922"/>
            <a:ext cx="8424705" cy="196024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 Step 1 — Variance-Based Filtering</a:t>
            </a:r>
          </a:p>
          <a:p>
            <a:pPr algn="ctr">
              <a:lnSpc>
                <a:spcPts val="3780"/>
              </a:lnSpc>
            </a:pPr>
            <a:r>
              <a:rPr lang="en-US" sz="2700" b="1">
                <a:solidFill>
                  <a:srgbClr val="000000"/>
                </a:solidFill>
                <a:latin typeface="Agrandir Bold"/>
                <a:ea typeface="Agrandir Bold"/>
                <a:cs typeface="Agrandir Bold"/>
                <a:sym typeface="Agrandir Bold"/>
              </a:rPr>
              <a:t>Objective</a:t>
            </a:r>
          </a:p>
          <a:p>
            <a:pPr marL="582953" lvl="1" indent="-291476" algn="l">
              <a:lnSpc>
                <a:spcPts val="3780"/>
              </a:lnSpc>
              <a:buFont typeface="Arial"/>
              <a:buChar char="•"/>
            </a:pPr>
            <a:r>
              <a:rPr lang="en-US" sz="2700">
                <a:solidFill>
                  <a:srgbClr val="000000"/>
                </a:solidFill>
                <a:latin typeface="Agrandir"/>
                <a:ea typeface="Agrandir"/>
                <a:cs typeface="Agrandir"/>
                <a:sym typeface="Agrandir"/>
              </a:rPr>
              <a:t>Remove sensors with almost constant values.</a:t>
            </a:r>
          </a:p>
          <a:p>
            <a:pPr algn="l">
              <a:lnSpc>
                <a:spcPts val="3780"/>
              </a:lnSpc>
            </a:pPr>
            <a:endParaRPr lang="en-US" sz="2700">
              <a:solidFill>
                <a:srgbClr val="000000"/>
              </a:solidFill>
              <a:latin typeface="Agrandir"/>
              <a:ea typeface="Agrandir"/>
              <a:cs typeface="Agrandir"/>
              <a:sym typeface="Agrandir"/>
            </a:endParaRPr>
          </a:p>
        </p:txBody>
      </p:sp>
      <p:sp>
        <p:nvSpPr>
          <p:cNvPr id="10" name="TextBox 10"/>
          <p:cNvSpPr txBox="1"/>
          <p:nvPr/>
        </p:nvSpPr>
        <p:spPr>
          <a:xfrm>
            <a:off x="9280426" y="511922"/>
            <a:ext cx="8205248" cy="1960242"/>
          </a:xfrm>
          <a:prstGeom prst="rect">
            <a:avLst/>
          </a:prstGeom>
        </p:spPr>
        <p:txBody>
          <a:bodyPr lIns="0" tIns="0" rIns="0" bIns="0" rtlCol="0" anchor="t">
            <a:spAutoFit/>
          </a:bodyPr>
          <a:lstStyle/>
          <a:p>
            <a:pPr algn="ctr">
              <a:lnSpc>
                <a:spcPts val="3780"/>
              </a:lnSpc>
            </a:pPr>
            <a:r>
              <a:rPr lang="en-US" sz="2700" b="1">
                <a:solidFill>
                  <a:srgbClr val="000000"/>
                </a:solidFill>
                <a:latin typeface="Agrandir Bold"/>
                <a:ea typeface="Agrandir Bold"/>
                <a:cs typeface="Agrandir Bold"/>
                <a:sym typeface="Agrandir Bold"/>
              </a:rPr>
              <a:t>Step 2 — Monotonicity Measure</a:t>
            </a:r>
          </a:p>
          <a:p>
            <a:pPr marL="582953" lvl="1" indent="-291476" algn="l">
              <a:lnSpc>
                <a:spcPts val="3780"/>
              </a:lnSpc>
              <a:buFont typeface="Arial"/>
              <a:buChar char="•"/>
            </a:pPr>
            <a:r>
              <a:rPr lang="en-US" sz="2700">
                <a:solidFill>
                  <a:srgbClr val="000000"/>
                </a:solidFill>
                <a:latin typeface="Agrandir"/>
                <a:ea typeface="Agrandir"/>
                <a:cs typeface="Agrandir"/>
                <a:sym typeface="Agrandir"/>
              </a:rPr>
              <a:t>Select sensors that show a consistent trend over time as the engine degrades.</a:t>
            </a:r>
          </a:p>
          <a:p>
            <a:pPr algn="l">
              <a:lnSpc>
                <a:spcPts val="3780"/>
              </a:lnSpc>
            </a:pPr>
            <a:endParaRPr lang="en-US" sz="2700">
              <a:solidFill>
                <a:srgbClr val="000000"/>
              </a:solidFill>
              <a:latin typeface="Agrandir"/>
              <a:ea typeface="Agrandir"/>
              <a:cs typeface="Agrandir"/>
              <a:sym typeface="Agrandir"/>
            </a:endParaRPr>
          </a:p>
        </p:txBody>
      </p:sp>
      <p:sp>
        <p:nvSpPr>
          <p:cNvPr id="11" name="TextBox 11"/>
          <p:cNvSpPr txBox="1"/>
          <p:nvPr/>
        </p:nvSpPr>
        <p:spPr>
          <a:xfrm>
            <a:off x="483359" y="4522942"/>
            <a:ext cx="8949971" cy="2436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Step 3 — Prognosability Measure</a:t>
            </a:r>
          </a:p>
          <a:p>
            <a:pPr algn="ctr">
              <a:lnSpc>
                <a:spcPts val="3780"/>
              </a:lnSpc>
              <a:spcBef>
                <a:spcPct val="0"/>
              </a:spcBef>
            </a:pPr>
            <a:endParaRPr lang="en-US" sz="2700" b="1">
              <a:solidFill>
                <a:srgbClr val="000000"/>
              </a:solidFill>
              <a:latin typeface="Agrandir Bold"/>
              <a:ea typeface="Agrandir Bold"/>
              <a:cs typeface="Agrandir Bold"/>
              <a:sym typeface="Agrandir Bold"/>
            </a:endParaRPr>
          </a:p>
          <a:p>
            <a:pPr marL="582953" lvl="1" indent="-291476" algn="l">
              <a:lnSpc>
                <a:spcPts val="3780"/>
              </a:lnSpc>
              <a:buFont typeface="Arial"/>
              <a:buChar char="•"/>
            </a:pPr>
            <a:r>
              <a:rPr lang="en-US" sz="2700">
                <a:solidFill>
                  <a:srgbClr val="000000"/>
                </a:solidFill>
                <a:latin typeface="Agrandir"/>
                <a:ea typeface="Agrandir"/>
                <a:cs typeface="Agrandir"/>
                <a:sym typeface="Agrandir"/>
              </a:rPr>
              <a:t>Select sensors that show similar behavior at failure across engines.</a:t>
            </a:r>
          </a:p>
          <a:p>
            <a:pPr marL="582953" lvl="1" indent="-291476" algn="l">
              <a:lnSpc>
                <a:spcPts val="3780"/>
              </a:lnSpc>
              <a:buFont typeface="Arial"/>
              <a:buChar char="•"/>
            </a:pPr>
            <a:r>
              <a:rPr lang="en-US" sz="2700">
                <a:solidFill>
                  <a:srgbClr val="000000"/>
                </a:solidFill>
                <a:latin typeface="Agrandir"/>
                <a:ea typeface="Agrandir"/>
                <a:cs typeface="Agrandir"/>
                <a:sym typeface="Agrandir"/>
              </a:rPr>
              <a:t>Mathematical Formulation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1703157"/>
            <a:ext cx="11220123" cy="2882216"/>
          </a:xfrm>
          <a:custGeom>
            <a:avLst/>
            <a:gdLst/>
            <a:ahLst/>
            <a:cxnLst/>
            <a:rect l="l" t="t" r="r" b="b"/>
            <a:pathLst>
              <a:path w="11220123" h="2882216">
                <a:moveTo>
                  <a:pt x="0" y="0"/>
                </a:moveTo>
                <a:lnTo>
                  <a:pt x="11220123" y="0"/>
                </a:lnTo>
                <a:lnTo>
                  <a:pt x="11220123" y="2882215"/>
                </a:lnTo>
                <a:lnTo>
                  <a:pt x="0" y="2882215"/>
                </a:lnTo>
                <a:lnTo>
                  <a:pt x="0" y="0"/>
                </a:lnTo>
                <a:close/>
              </a:path>
            </a:pathLst>
          </a:custGeom>
          <a:blipFill>
            <a:blip r:embed="rId2"/>
            <a:stretch>
              <a:fillRect t="-2447" r="-1203" b="-2447"/>
            </a:stretch>
          </a:blipFill>
        </p:spPr>
      </p:sp>
      <p:sp>
        <p:nvSpPr>
          <p:cNvPr id="3" name="Freeform 3"/>
          <p:cNvSpPr/>
          <p:nvPr/>
        </p:nvSpPr>
        <p:spPr>
          <a:xfrm>
            <a:off x="6776908" y="5580958"/>
            <a:ext cx="11700039" cy="4647134"/>
          </a:xfrm>
          <a:custGeom>
            <a:avLst/>
            <a:gdLst/>
            <a:ahLst/>
            <a:cxnLst/>
            <a:rect l="l" t="t" r="r" b="b"/>
            <a:pathLst>
              <a:path w="11700039" h="4647134">
                <a:moveTo>
                  <a:pt x="0" y="0"/>
                </a:moveTo>
                <a:lnTo>
                  <a:pt x="11700038" y="0"/>
                </a:lnTo>
                <a:lnTo>
                  <a:pt x="11700038" y="4647134"/>
                </a:lnTo>
                <a:lnTo>
                  <a:pt x="0" y="4647134"/>
                </a:lnTo>
                <a:lnTo>
                  <a:pt x="0" y="0"/>
                </a:lnTo>
                <a:close/>
              </a:path>
            </a:pathLst>
          </a:custGeom>
          <a:blipFill>
            <a:blip r:embed="rId3"/>
            <a:stretch>
              <a:fillRect t="-1834" b="-1834"/>
            </a:stretch>
          </a:blipFill>
        </p:spPr>
      </p:sp>
      <p:sp>
        <p:nvSpPr>
          <p:cNvPr id="4" name="TextBox 4"/>
          <p:cNvSpPr txBox="1"/>
          <p:nvPr/>
        </p:nvSpPr>
        <p:spPr>
          <a:xfrm>
            <a:off x="1028700" y="554356"/>
            <a:ext cx="8561965" cy="767713"/>
          </a:xfrm>
          <a:prstGeom prst="rect">
            <a:avLst/>
          </a:prstGeom>
        </p:spPr>
        <p:txBody>
          <a:bodyPr lIns="0" tIns="0" rIns="0" bIns="0" rtlCol="0" anchor="t">
            <a:spAutoFit/>
          </a:bodyPr>
          <a:lstStyle/>
          <a:p>
            <a:pPr algn="ctr">
              <a:lnSpc>
                <a:spcPts val="5460"/>
              </a:lnSpc>
              <a:spcBef>
                <a:spcPct val="0"/>
              </a:spcBef>
            </a:pPr>
            <a:r>
              <a:rPr lang="en-US" sz="3900" b="1">
                <a:solidFill>
                  <a:srgbClr val="000000"/>
                </a:solidFill>
                <a:latin typeface="Agrandir Bold"/>
                <a:ea typeface="Agrandir Bold"/>
                <a:cs typeface="Agrandir Bold"/>
                <a:sym typeface="Agrandir Bold"/>
              </a:rPr>
              <a:t>STEP 4: Final sensor scoring</a:t>
            </a:r>
          </a:p>
        </p:txBody>
      </p:sp>
      <p:sp>
        <p:nvSpPr>
          <p:cNvPr id="5" name="TextBox 5"/>
          <p:cNvSpPr txBox="1"/>
          <p:nvPr/>
        </p:nvSpPr>
        <p:spPr>
          <a:xfrm>
            <a:off x="10712512" y="4247419"/>
            <a:ext cx="7003018" cy="1022984"/>
          </a:xfrm>
          <a:prstGeom prst="rect">
            <a:avLst/>
          </a:prstGeom>
        </p:spPr>
        <p:txBody>
          <a:bodyPr lIns="0" tIns="0" rIns="0" bIns="0" rtlCol="0" anchor="t">
            <a:spAutoFit/>
          </a:bodyPr>
          <a:lstStyle/>
          <a:p>
            <a:pPr algn="ctr">
              <a:lnSpc>
                <a:spcPts val="7140"/>
              </a:lnSpc>
              <a:spcBef>
                <a:spcPct val="0"/>
              </a:spcBef>
            </a:pPr>
            <a:r>
              <a:rPr lang="en-US" sz="5100" b="1">
                <a:solidFill>
                  <a:srgbClr val="000000"/>
                </a:solidFill>
                <a:latin typeface="Agrandir Bold"/>
                <a:ea typeface="Agrandir Bold"/>
                <a:cs typeface="Agrandir Bold"/>
                <a:sym typeface="Agrandir Bold"/>
              </a:rPr>
              <a:t>step 5: Sliding window</a:t>
            </a:r>
          </a:p>
        </p:txBody>
      </p:sp>
      <p:sp>
        <p:nvSpPr>
          <p:cNvPr id="6" name="Freeform 6"/>
          <p:cNvSpPr/>
          <p:nvPr/>
        </p:nvSpPr>
        <p:spPr>
          <a:xfrm>
            <a:off x="14735623" y="0"/>
            <a:ext cx="3267256" cy="3333935"/>
          </a:xfrm>
          <a:custGeom>
            <a:avLst/>
            <a:gdLst/>
            <a:ahLst/>
            <a:cxnLst/>
            <a:rect l="l" t="t" r="r" b="b"/>
            <a:pathLst>
              <a:path w="3267256" h="3333935">
                <a:moveTo>
                  <a:pt x="0" y="0"/>
                </a:moveTo>
                <a:lnTo>
                  <a:pt x="3267256" y="0"/>
                </a:lnTo>
                <a:lnTo>
                  <a:pt x="3267256" y="3333935"/>
                </a:lnTo>
                <a:lnTo>
                  <a:pt x="0" y="3333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484568" y="6593507"/>
            <a:ext cx="3267256" cy="3333935"/>
          </a:xfrm>
          <a:custGeom>
            <a:avLst/>
            <a:gdLst/>
            <a:ahLst/>
            <a:cxnLst/>
            <a:rect l="l" t="t" r="r" b="b"/>
            <a:pathLst>
              <a:path w="3267256" h="3333935">
                <a:moveTo>
                  <a:pt x="0" y="0"/>
                </a:moveTo>
                <a:lnTo>
                  <a:pt x="3267256" y="0"/>
                </a:lnTo>
                <a:lnTo>
                  <a:pt x="3267256" y="3333935"/>
                </a:lnTo>
                <a:lnTo>
                  <a:pt x="0" y="3333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468975" y="2530974"/>
            <a:ext cx="6821254" cy="3454658"/>
          </a:xfrm>
          <a:prstGeom prst="rect">
            <a:avLst/>
          </a:prstGeom>
        </p:spPr>
        <p:txBody>
          <a:bodyPr lIns="0" tIns="0" rIns="0" bIns="0" rtlCol="0" anchor="t">
            <a:spAutoFit/>
          </a:bodyPr>
          <a:lstStyle/>
          <a:p>
            <a:pPr marL="604542" lvl="1" indent="-302271" algn="l">
              <a:lnSpc>
                <a:spcPts val="2408"/>
              </a:lnSpc>
              <a:buFont typeface="Arial"/>
              <a:buChar char="•"/>
            </a:pPr>
            <a:r>
              <a:rPr lang="en-US" sz="2800">
                <a:solidFill>
                  <a:srgbClr val="000000"/>
                </a:solidFill>
                <a:latin typeface="Agrandir"/>
                <a:ea typeface="Agrandir"/>
                <a:cs typeface="Agrandir"/>
                <a:sym typeface="Agrandir"/>
              </a:rPr>
              <a:t>One-dimensional convolutional layers are applied to the sensor sequences.</a:t>
            </a:r>
          </a:p>
          <a:p>
            <a:pPr algn="l">
              <a:lnSpc>
                <a:spcPts val="2408"/>
              </a:lnSpc>
            </a:pPr>
            <a:endParaRPr lang="en-US" sz="2800">
              <a:solidFill>
                <a:srgbClr val="000000"/>
              </a:solidFill>
              <a:latin typeface="Agrandir"/>
              <a:ea typeface="Agrandir"/>
              <a:cs typeface="Agrandir"/>
              <a:sym typeface="Agrandir"/>
            </a:endParaRPr>
          </a:p>
          <a:p>
            <a:pPr marL="604542" lvl="1" indent="-302271" algn="l">
              <a:lnSpc>
                <a:spcPts val="2408"/>
              </a:lnSpc>
              <a:buFont typeface="Arial"/>
              <a:buChar char="•"/>
            </a:pPr>
            <a:r>
              <a:rPr lang="en-US" sz="2800">
                <a:solidFill>
                  <a:srgbClr val="000000"/>
                </a:solidFill>
                <a:latin typeface="Agrandir"/>
                <a:ea typeface="Agrandir"/>
                <a:cs typeface="Agrandir"/>
                <a:sym typeface="Agrandir"/>
              </a:rPr>
              <a:t>CNN layers capture:</a:t>
            </a:r>
          </a:p>
          <a:p>
            <a:pPr algn="l">
              <a:lnSpc>
                <a:spcPts val="2408"/>
              </a:lnSpc>
            </a:pPr>
            <a:endParaRPr lang="en-US" sz="2800">
              <a:solidFill>
                <a:srgbClr val="000000"/>
              </a:solidFill>
              <a:latin typeface="Agrandir"/>
              <a:ea typeface="Agrandir"/>
              <a:cs typeface="Agrandir"/>
              <a:sym typeface="Agrandir"/>
            </a:endParaRPr>
          </a:p>
          <a:p>
            <a:pPr marL="604542" lvl="1" indent="-302271" algn="l">
              <a:lnSpc>
                <a:spcPts val="2408"/>
              </a:lnSpc>
              <a:buFont typeface="Arial"/>
              <a:buChar char="•"/>
            </a:pPr>
            <a:r>
              <a:rPr lang="en-US" sz="2800">
                <a:solidFill>
                  <a:srgbClr val="000000"/>
                </a:solidFill>
                <a:latin typeface="Agrandir"/>
                <a:ea typeface="Agrandir"/>
                <a:cs typeface="Agrandir"/>
                <a:sym typeface="Agrandir"/>
              </a:rPr>
              <a:t>Local temporal patterns</a:t>
            </a:r>
          </a:p>
          <a:p>
            <a:pPr algn="l">
              <a:lnSpc>
                <a:spcPts val="2408"/>
              </a:lnSpc>
            </a:pPr>
            <a:endParaRPr lang="en-US" sz="2800">
              <a:solidFill>
                <a:srgbClr val="000000"/>
              </a:solidFill>
              <a:latin typeface="Agrandir"/>
              <a:ea typeface="Agrandir"/>
              <a:cs typeface="Agrandir"/>
              <a:sym typeface="Agrandir"/>
            </a:endParaRPr>
          </a:p>
          <a:p>
            <a:pPr marL="604542" lvl="1" indent="-302271" algn="l">
              <a:lnSpc>
                <a:spcPts val="2408"/>
              </a:lnSpc>
              <a:buFont typeface="Arial"/>
              <a:buChar char="•"/>
            </a:pPr>
            <a:r>
              <a:rPr lang="en-US" sz="2800">
                <a:solidFill>
                  <a:srgbClr val="000000"/>
                </a:solidFill>
                <a:latin typeface="Agrandir"/>
                <a:ea typeface="Agrandir"/>
                <a:cs typeface="Agrandir"/>
                <a:sym typeface="Agrandir"/>
              </a:rPr>
              <a:t>Short-term degradation features</a:t>
            </a:r>
          </a:p>
          <a:p>
            <a:pPr algn="l">
              <a:lnSpc>
                <a:spcPts val="2408"/>
              </a:lnSpc>
            </a:pPr>
            <a:endParaRPr lang="en-US" sz="2800">
              <a:solidFill>
                <a:srgbClr val="000000"/>
              </a:solidFill>
              <a:latin typeface="Agrandir"/>
              <a:ea typeface="Agrandir"/>
              <a:cs typeface="Agrandir"/>
              <a:sym typeface="Agrandir"/>
            </a:endParaRPr>
          </a:p>
          <a:p>
            <a:pPr marL="604542" lvl="1" indent="-302271" algn="l">
              <a:lnSpc>
                <a:spcPts val="2408"/>
              </a:lnSpc>
              <a:buFont typeface="Arial"/>
              <a:buChar char="•"/>
            </a:pPr>
            <a:r>
              <a:rPr lang="en-US" sz="2800">
                <a:solidFill>
                  <a:srgbClr val="000000"/>
                </a:solidFill>
                <a:latin typeface="Agrandir"/>
                <a:ea typeface="Agrandir"/>
                <a:cs typeface="Agrandir"/>
                <a:sym typeface="Agrandir"/>
              </a:rPr>
              <a:t>Max pooling is used to reduce dimensionality and noise.</a:t>
            </a:r>
          </a:p>
        </p:txBody>
      </p:sp>
      <p:sp>
        <p:nvSpPr>
          <p:cNvPr id="3" name="TextBox 3"/>
          <p:cNvSpPr txBox="1"/>
          <p:nvPr/>
        </p:nvSpPr>
        <p:spPr>
          <a:xfrm>
            <a:off x="732209" y="393383"/>
            <a:ext cx="6558020" cy="1927859"/>
          </a:xfrm>
          <a:prstGeom prst="rect">
            <a:avLst/>
          </a:prstGeom>
        </p:spPr>
        <p:txBody>
          <a:bodyPr lIns="0" tIns="0" rIns="0" bIns="0" rtlCol="0" anchor="t">
            <a:spAutoFit/>
          </a:bodyPr>
          <a:lstStyle/>
          <a:p>
            <a:pPr algn="ctr">
              <a:lnSpc>
                <a:spcPts val="7140"/>
              </a:lnSpc>
              <a:spcBef>
                <a:spcPct val="0"/>
              </a:spcBef>
            </a:pPr>
            <a:r>
              <a:rPr lang="en-US" sz="5100" b="1" u="sng">
                <a:solidFill>
                  <a:srgbClr val="33858B"/>
                </a:solidFill>
                <a:latin typeface="Agrandir Bold"/>
                <a:ea typeface="Agrandir Bold"/>
                <a:cs typeface="Agrandir Bold"/>
                <a:sym typeface="Agrandir Bold"/>
              </a:rPr>
              <a:t>Feature Extraction Using CNN</a:t>
            </a:r>
          </a:p>
        </p:txBody>
      </p:sp>
      <p:sp>
        <p:nvSpPr>
          <p:cNvPr id="4" name="AutoShape 4"/>
          <p:cNvSpPr/>
          <p:nvPr/>
        </p:nvSpPr>
        <p:spPr>
          <a:xfrm>
            <a:off x="7811233" y="1766994"/>
            <a:ext cx="0" cy="7491306"/>
          </a:xfrm>
          <a:prstGeom prst="line">
            <a:avLst/>
          </a:prstGeom>
          <a:ln w="38100" cap="flat">
            <a:solidFill>
              <a:srgbClr val="000000"/>
            </a:solidFill>
            <a:prstDash val="sysDot"/>
            <a:headEnd type="none" w="sm" len="sm"/>
            <a:tailEnd type="none" w="sm" len="sm"/>
          </a:ln>
        </p:spPr>
      </p:sp>
      <p:sp>
        <p:nvSpPr>
          <p:cNvPr id="5" name="TextBox 5"/>
          <p:cNvSpPr txBox="1"/>
          <p:nvPr/>
        </p:nvSpPr>
        <p:spPr>
          <a:xfrm>
            <a:off x="8107603" y="393383"/>
            <a:ext cx="9005887" cy="1927859"/>
          </a:xfrm>
          <a:prstGeom prst="rect">
            <a:avLst/>
          </a:prstGeom>
        </p:spPr>
        <p:txBody>
          <a:bodyPr lIns="0" tIns="0" rIns="0" bIns="0" rtlCol="0" anchor="t">
            <a:spAutoFit/>
          </a:bodyPr>
          <a:lstStyle/>
          <a:p>
            <a:pPr algn="ctr">
              <a:lnSpc>
                <a:spcPts val="7140"/>
              </a:lnSpc>
              <a:spcBef>
                <a:spcPct val="0"/>
              </a:spcBef>
            </a:pPr>
            <a:r>
              <a:rPr lang="en-US" sz="5100" b="1" u="sng">
                <a:solidFill>
                  <a:srgbClr val="33858B"/>
                </a:solidFill>
                <a:latin typeface="Agrandir Bold"/>
                <a:ea typeface="Agrandir Bold"/>
                <a:cs typeface="Agrandir Bold"/>
                <a:sym typeface="Agrandir Bold"/>
              </a:rPr>
              <a:t>Temporal Modeling Using BiLSTM</a:t>
            </a:r>
          </a:p>
        </p:txBody>
      </p:sp>
      <p:sp>
        <p:nvSpPr>
          <p:cNvPr id="6" name="TextBox 6"/>
          <p:cNvSpPr txBox="1"/>
          <p:nvPr/>
        </p:nvSpPr>
        <p:spPr>
          <a:xfrm>
            <a:off x="8107603" y="2749843"/>
            <a:ext cx="10180397" cy="5556633"/>
          </a:xfrm>
          <a:prstGeom prst="rect">
            <a:avLst/>
          </a:prstGeom>
        </p:spPr>
        <p:txBody>
          <a:bodyPr lIns="0" tIns="0" rIns="0" bIns="0" rtlCol="0" anchor="t">
            <a:spAutoFit/>
          </a:bodyPr>
          <a:lstStyle/>
          <a:p>
            <a:pPr algn="l">
              <a:lnSpc>
                <a:spcPts val="3317"/>
              </a:lnSpc>
            </a:pPr>
            <a:endParaRPr/>
          </a:p>
          <a:p>
            <a:pPr marL="669311" lvl="1" indent="-334655" algn="l">
              <a:lnSpc>
                <a:spcPts val="3317"/>
              </a:lnSpc>
              <a:buFont typeface="Arial"/>
              <a:buChar char="•"/>
            </a:pPr>
            <a:r>
              <a:rPr lang="en-US" sz="3100">
                <a:solidFill>
                  <a:srgbClr val="000000"/>
                </a:solidFill>
                <a:latin typeface="Agrandir"/>
                <a:ea typeface="Agrandir"/>
                <a:cs typeface="Agrandir"/>
                <a:sym typeface="Agrandir"/>
              </a:rPr>
              <a:t>Bidirectional Long Short-Term Memory (BiLSTM) networks are used to model long-term dependencies.</a:t>
            </a:r>
          </a:p>
          <a:p>
            <a:pPr algn="l">
              <a:lnSpc>
                <a:spcPts val="3317"/>
              </a:lnSpc>
            </a:pPr>
            <a:endParaRPr lang="en-US" sz="3100">
              <a:solidFill>
                <a:srgbClr val="000000"/>
              </a:solidFill>
              <a:latin typeface="Agrandir"/>
              <a:ea typeface="Agrandir"/>
              <a:cs typeface="Agrandir"/>
              <a:sym typeface="Agrandir"/>
            </a:endParaRPr>
          </a:p>
          <a:p>
            <a:pPr marL="669311" lvl="1" indent="-334655" algn="l">
              <a:lnSpc>
                <a:spcPts val="3317"/>
              </a:lnSpc>
              <a:buFont typeface="Arial"/>
              <a:buChar char="•"/>
            </a:pPr>
            <a:r>
              <a:rPr lang="en-US" sz="3100">
                <a:solidFill>
                  <a:srgbClr val="000000"/>
                </a:solidFill>
                <a:latin typeface="Agrandir"/>
                <a:ea typeface="Agrandir"/>
                <a:cs typeface="Agrandir"/>
                <a:sym typeface="Agrandir"/>
              </a:rPr>
              <a:t>BiLSTM processes sequences in:</a:t>
            </a:r>
          </a:p>
          <a:p>
            <a:pPr algn="l">
              <a:lnSpc>
                <a:spcPts val="3317"/>
              </a:lnSpc>
            </a:pPr>
            <a:endParaRPr lang="en-US" sz="3100">
              <a:solidFill>
                <a:srgbClr val="000000"/>
              </a:solidFill>
              <a:latin typeface="Agrandir"/>
              <a:ea typeface="Agrandir"/>
              <a:cs typeface="Agrandir"/>
              <a:sym typeface="Agrandir"/>
            </a:endParaRPr>
          </a:p>
          <a:p>
            <a:pPr marL="669311" lvl="1" indent="-334655" algn="l">
              <a:lnSpc>
                <a:spcPts val="3317"/>
              </a:lnSpc>
              <a:buFont typeface="Arial"/>
              <a:buChar char="•"/>
            </a:pPr>
            <a:r>
              <a:rPr lang="en-US" sz="3100">
                <a:solidFill>
                  <a:srgbClr val="000000"/>
                </a:solidFill>
                <a:latin typeface="Agrandir"/>
                <a:ea typeface="Agrandir"/>
                <a:cs typeface="Agrandir"/>
                <a:sym typeface="Agrandir"/>
              </a:rPr>
              <a:t>Forward direction</a:t>
            </a:r>
          </a:p>
          <a:p>
            <a:pPr algn="l">
              <a:lnSpc>
                <a:spcPts val="3317"/>
              </a:lnSpc>
            </a:pPr>
            <a:endParaRPr lang="en-US" sz="3100">
              <a:solidFill>
                <a:srgbClr val="000000"/>
              </a:solidFill>
              <a:latin typeface="Agrandir"/>
              <a:ea typeface="Agrandir"/>
              <a:cs typeface="Agrandir"/>
              <a:sym typeface="Agrandir"/>
            </a:endParaRPr>
          </a:p>
          <a:p>
            <a:pPr marL="669311" lvl="1" indent="-334655" algn="l">
              <a:lnSpc>
                <a:spcPts val="3317"/>
              </a:lnSpc>
              <a:buFont typeface="Arial"/>
              <a:buChar char="•"/>
            </a:pPr>
            <a:r>
              <a:rPr lang="en-US" sz="3100">
                <a:solidFill>
                  <a:srgbClr val="000000"/>
                </a:solidFill>
                <a:latin typeface="Agrandir"/>
                <a:ea typeface="Agrandir"/>
                <a:cs typeface="Agrandir"/>
                <a:sym typeface="Agrandir"/>
              </a:rPr>
              <a:t>Backward direction</a:t>
            </a:r>
          </a:p>
          <a:p>
            <a:pPr algn="l">
              <a:lnSpc>
                <a:spcPts val="3317"/>
              </a:lnSpc>
            </a:pPr>
            <a:endParaRPr lang="en-US" sz="3100">
              <a:solidFill>
                <a:srgbClr val="000000"/>
              </a:solidFill>
              <a:latin typeface="Agrandir"/>
              <a:ea typeface="Agrandir"/>
              <a:cs typeface="Agrandir"/>
              <a:sym typeface="Agrandir"/>
            </a:endParaRPr>
          </a:p>
          <a:p>
            <a:pPr marL="669311" lvl="1" indent="-334655" algn="l">
              <a:lnSpc>
                <a:spcPts val="3317"/>
              </a:lnSpc>
              <a:buFont typeface="Arial"/>
              <a:buChar char="•"/>
            </a:pPr>
            <a:r>
              <a:rPr lang="en-US" sz="3100">
                <a:solidFill>
                  <a:srgbClr val="000000"/>
                </a:solidFill>
                <a:latin typeface="Agrandir"/>
                <a:ea typeface="Agrandir"/>
                <a:cs typeface="Agrandir"/>
                <a:sym typeface="Agrandir"/>
              </a:rPr>
              <a:t>This allows the model to capture both past and future context in degradation behavior.</a:t>
            </a:r>
          </a:p>
        </p:txBody>
      </p:sp>
      <p:sp>
        <p:nvSpPr>
          <p:cNvPr id="7" name="TextBox 7"/>
          <p:cNvSpPr txBox="1"/>
          <p:nvPr/>
        </p:nvSpPr>
        <p:spPr>
          <a:xfrm>
            <a:off x="1230042" y="6052308"/>
            <a:ext cx="3827030" cy="3389209"/>
          </a:xfrm>
          <a:prstGeom prst="rect">
            <a:avLst/>
          </a:prstGeom>
        </p:spPr>
        <p:txBody>
          <a:bodyPr lIns="0" tIns="0" rIns="0" bIns="0" rtlCol="0" anchor="t">
            <a:spAutoFit/>
          </a:bodyPr>
          <a:lstStyle/>
          <a:p>
            <a:pPr marL="581112" lvl="1" indent="-290556" algn="l">
              <a:lnSpc>
                <a:spcPts val="3768"/>
              </a:lnSpc>
              <a:buFont typeface="Arial"/>
              <a:buChar char="•"/>
            </a:pPr>
            <a:r>
              <a:rPr lang="en-US" sz="2691">
                <a:solidFill>
                  <a:srgbClr val="000000"/>
                </a:solidFill>
                <a:latin typeface="Agrandir"/>
                <a:ea typeface="Agrandir"/>
                <a:cs typeface="Agrandir"/>
                <a:sym typeface="Agrandir"/>
              </a:rPr>
              <a:t>Layer Used</a:t>
            </a:r>
          </a:p>
          <a:p>
            <a:pPr marL="581112" lvl="1" indent="-290556" algn="l">
              <a:lnSpc>
                <a:spcPts val="3768"/>
              </a:lnSpc>
              <a:buFont typeface="Arial"/>
              <a:buChar char="•"/>
            </a:pPr>
            <a:r>
              <a:rPr lang="en-US" sz="2691">
                <a:solidFill>
                  <a:srgbClr val="000000"/>
                </a:solidFill>
                <a:latin typeface="Agrandir"/>
                <a:ea typeface="Agrandir"/>
                <a:cs typeface="Agrandir"/>
                <a:sym typeface="Agrandir"/>
              </a:rPr>
              <a:t>Conv1D</a:t>
            </a:r>
          </a:p>
          <a:p>
            <a:pPr algn="l">
              <a:lnSpc>
                <a:spcPts val="3768"/>
              </a:lnSpc>
            </a:pPr>
            <a:r>
              <a:rPr lang="en-US" sz="2691">
                <a:solidFill>
                  <a:srgbClr val="000000"/>
                </a:solidFill>
                <a:latin typeface="Agrandir"/>
                <a:ea typeface="Agrandir"/>
                <a:cs typeface="Agrandir"/>
                <a:sym typeface="Agrandir"/>
              </a:rPr>
              <a:t>      Filters = 32</a:t>
            </a:r>
          </a:p>
          <a:p>
            <a:pPr algn="l">
              <a:lnSpc>
                <a:spcPts val="3768"/>
              </a:lnSpc>
            </a:pPr>
            <a:r>
              <a:rPr lang="en-US" sz="2691">
                <a:solidFill>
                  <a:srgbClr val="000000"/>
                </a:solidFill>
                <a:latin typeface="Agrandir"/>
                <a:ea typeface="Agrandir"/>
                <a:cs typeface="Agrandir"/>
                <a:sym typeface="Agrandir"/>
              </a:rPr>
              <a:t>       Kernel size = 3</a:t>
            </a:r>
          </a:p>
          <a:p>
            <a:pPr algn="l">
              <a:lnSpc>
                <a:spcPts val="3768"/>
              </a:lnSpc>
            </a:pPr>
            <a:r>
              <a:rPr lang="en-US" sz="2691">
                <a:solidFill>
                  <a:srgbClr val="000000"/>
                </a:solidFill>
                <a:latin typeface="Agrandir"/>
                <a:ea typeface="Agrandir"/>
                <a:cs typeface="Agrandir"/>
                <a:sym typeface="Agrandir"/>
              </a:rPr>
              <a:t>       Activation = ReLU</a:t>
            </a:r>
          </a:p>
          <a:p>
            <a:pPr marL="581112" lvl="1" indent="-290556" algn="l">
              <a:lnSpc>
                <a:spcPts val="3768"/>
              </a:lnSpc>
              <a:buFont typeface="Arial"/>
              <a:buChar char="•"/>
            </a:pPr>
            <a:r>
              <a:rPr lang="en-US" sz="2691">
                <a:solidFill>
                  <a:srgbClr val="000000"/>
                </a:solidFill>
                <a:latin typeface="Agrandir"/>
                <a:ea typeface="Agrandir"/>
                <a:cs typeface="Agrandir"/>
                <a:sym typeface="Agrandir"/>
              </a:rPr>
              <a:t>MaxPooling1D</a:t>
            </a:r>
          </a:p>
          <a:p>
            <a:pPr algn="l">
              <a:lnSpc>
                <a:spcPts val="3768"/>
              </a:lnSpc>
            </a:pPr>
            <a:r>
              <a:rPr lang="en-US" sz="2691">
                <a:solidFill>
                  <a:srgbClr val="000000"/>
                </a:solidFill>
                <a:latin typeface="Agrandir"/>
                <a:ea typeface="Agrandir"/>
                <a:cs typeface="Agrandir"/>
                <a:sym typeface="Agrandir"/>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225100" y="2008442"/>
            <a:ext cx="7858412" cy="7249858"/>
          </a:xfrm>
          <a:prstGeom prst="rect">
            <a:avLst/>
          </a:prstGeom>
        </p:spPr>
        <p:txBody>
          <a:bodyPr lIns="0" tIns="0" rIns="0" bIns="0" rtlCol="0" anchor="t">
            <a:spAutoFit/>
          </a:bodyPr>
          <a:lstStyle/>
          <a:p>
            <a:pPr algn="l">
              <a:lnSpc>
                <a:spcPts val="4620"/>
              </a:lnSpc>
            </a:pP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An attention layer is integrated after the BiLSTM layer.</a:t>
            </a:r>
          </a:p>
          <a:p>
            <a:pPr algn="l">
              <a:lnSpc>
                <a:spcPts val="3729"/>
              </a:lnSpc>
            </a:pPr>
            <a:endParaRPr lang="en-US" sz="3300">
              <a:solidFill>
                <a:srgbClr val="000000"/>
              </a:solidFill>
              <a:latin typeface="Agrandir"/>
              <a:ea typeface="Agrandir"/>
              <a:cs typeface="Agrandir"/>
              <a:sym typeface="Agrandi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Attention assigns different weights to time steps in the sequence.</a:t>
            </a:r>
          </a:p>
          <a:p>
            <a:pPr algn="l">
              <a:lnSpc>
                <a:spcPts val="3729"/>
              </a:lnSpc>
            </a:pPr>
            <a:endParaRPr lang="en-US" sz="3300">
              <a:solidFill>
                <a:srgbClr val="000000"/>
              </a:solidFill>
              <a:latin typeface="Agrandir"/>
              <a:ea typeface="Agrandir"/>
              <a:cs typeface="Agrandir"/>
              <a:sym typeface="Agrandi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This enables the model to:</a:t>
            </a:r>
          </a:p>
          <a:p>
            <a:pPr algn="l">
              <a:lnSpc>
                <a:spcPts val="3729"/>
              </a:lnSpc>
            </a:pPr>
            <a:endParaRPr lang="en-US" sz="3300">
              <a:solidFill>
                <a:srgbClr val="000000"/>
              </a:solidFill>
              <a:latin typeface="Agrandir"/>
              <a:ea typeface="Agrandir"/>
              <a:cs typeface="Agrandir"/>
              <a:sym typeface="Agrandi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Focus on critical degradation periods</a:t>
            </a:r>
          </a:p>
          <a:p>
            <a:pPr algn="l">
              <a:lnSpc>
                <a:spcPts val="3729"/>
              </a:lnSpc>
            </a:pPr>
            <a:endParaRPr lang="en-US" sz="3300">
              <a:solidFill>
                <a:srgbClr val="000000"/>
              </a:solidFill>
              <a:latin typeface="Agrandir"/>
              <a:ea typeface="Agrandir"/>
              <a:cs typeface="Agrandir"/>
              <a:sym typeface="Agrandi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Improve prediction accuracy</a:t>
            </a:r>
          </a:p>
          <a:p>
            <a:pPr algn="l">
              <a:lnSpc>
                <a:spcPts val="3729"/>
              </a:lnSpc>
            </a:pPr>
            <a:endParaRPr lang="en-US" sz="3300">
              <a:solidFill>
                <a:srgbClr val="000000"/>
              </a:solidFill>
              <a:latin typeface="Agrandir"/>
              <a:ea typeface="Agrandir"/>
              <a:cs typeface="Agrandir"/>
              <a:sym typeface="Agrandir"/>
            </a:endParaRPr>
          </a:p>
          <a:p>
            <a:pPr marL="712489" lvl="1" indent="-356245" algn="l">
              <a:lnSpc>
                <a:spcPts val="3729"/>
              </a:lnSpc>
              <a:buFont typeface="Arial"/>
              <a:buChar char="•"/>
            </a:pPr>
            <a:r>
              <a:rPr lang="en-US" sz="3300">
                <a:solidFill>
                  <a:srgbClr val="000000"/>
                </a:solidFill>
                <a:latin typeface="Agrandir"/>
                <a:ea typeface="Agrandir"/>
                <a:cs typeface="Agrandir"/>
                <a:sym typeface="Agrandir"/>
              </a:rPr>
              <a:t>Enhance interpretability</a:t>
            </a:r>
          </a:p>
        </p:txBody>
      </p:sp>
      <p:sp>
        <p:nvSpPr>
          <p:cNvPr id="3" name="TextBox 3"/>
          <p:cNvSpPr txBox="1"/>
          <p:nvPr/>
        </p:nvSpPr>
        <p:spPr>
          <a:xfrm>
            <a:off x="720186" y="517208"/>
            <a:ext cx="6868239" cy="1022984"/>
          </a:xfrm>
          <a:prstGeom prst="rect">
            <a:avLst/>
          </a:prstGeom>
        </p:spPr>
        <p:txBody>
          <a:bodyPr lIns="0" tIns="0" rIns="0" bIns="0" rtlCol="0" anchor="t">
            <a:spAutoFit/>
          </a:bodyPr>
          <a:lstStyle/>
          <a:p>
            <a:pPr algn="ctr">
              <a:lnSpc>
                <a:spcPts val="7140"/>
              </a:lnSpc>
              <a:spcBef>
                <a:spcPct val="0"/>
              </a:spcBef>
            </a:pPr>
            <a:r>
              <a:rPr lang="en-US" sz="5100" b="1" u="sng" dirty="0">
                <a:solidFill>
                  <a:srgbClr val="2A6D72"/>
                </a:solidFill>
                <a:latin typeface="Agrandir Bold"/>
                <a:ea typeface="Agrandir Bold"/>
                <a:cs typeface="Agrandir Bold"/>
                <a:sym typeface="Agrandir Bold"/>
              </a:rPr>
              <a:t>Attention Mechanism</a:t>
            </a:r>
          </a:p>
        </p:txBody>
      </p:sp>
      <p:sp>
        <p:nvSpPr>
          <p:cNvPr id="4" name="AutoShape 4"/>
          <p:cNvSpPr/>
          <p:nvPr/>
        </p:nvSpPr>
        <p:spPr>
          <a:xfrm>
            <a:off x="8351474" y="1834524"/>
            <a:ext cx="0" cy="7654384"/>
          </a:xfrm>
          <a:prstGeom prst="line">
            <a:avLst/>
          </a:prstGeom>
          <a:ln w="38100" cap="flat">
            <a:solidFill>
              <a:srgbClr val="000000"/>
            </a:solidFill>
            <a:prstDash val="sysDot"/>
            <a:headEnd type="none" w="sm" len="sm"/>
            <a:tailEnd type="none" w="sm" len="sm"/>
          </a:ln>
        </p:spPr>
      </p:sp>
      <p:sp>
        <p:nvSpPr>
          <p:cNvPr id="5" name="TextBox 5"/>
          <p:cNvSpPr txBox="1"/>
          <p:nvPr/>
        </p:nvSpPr>
        <p:spPr>
          <a:xfrm>
            <a:off x="8560577" y="1246832"/>
            <a:ext cx="8698723" cy="6399530"/>
          </a:xfrm>
          <a:prstGeom prst="rect">
            <a:avLst/>
          </a:prstGeom>
        </p:spPr>
        <p:txBody>
          <a:bodyPr lIns="0" tIns="0" rIns="0" bIns="0" rtlCol="0" anchor="t">
            <a:spAutoFit/>
          </a:bodyPr>
          <a:lstStyle/>
          <a:p>
            <a:pPr algn="ctr">
              <a:lnSpc>
                <a:spcPts val="5739"/>
              </a:lnSpc>
              <a:spcBef>
                <a:spcPct val="0"/>
              </a:spcBef>
            </a:pPr>
            <a:r>
              <a:rPr lang="en-US" sz="4099" b="1" u="sng">
                <a:solidFill>
                  <a:srgbClr val="2A6D72"/>
                </a:solidFill>
                <a:latin typeface="Agrandir Bold"/>
                <a:ea typeface="Agrandir Bold"/>
                <a:cs typeface="Agrandir Bold"/>
                <a:sym typeface="Agrandir Bold"/>
              </a:rPr>
              <a:t>RUL Prediction Model</a:t>
            </a:r>
          </a:p>
          <a:p>
            <a:pPr algn="ctr">
              <a:lnSpc>
                <a:spcPts val="4900"/>
              </a:lnSpc>
              <a:spcBef>
                <a:spcPct val="0"/>
              </a:spcBef>
            </a:pPr>
            <a:endParaRPr lang="en-US" sz="4099" b="1" u="sng">
              <a:solidFill>
                <a:srgbClr val="2A6D72"/>
              </a:solidFill>
              <a:latin typeface="Agrandir Bold"/>
              <a:ea typeface="Agrandir Bold"/>
              <a:cs typeface="Agrandir Bold"/>
              <a:sym typeface="Agrandir Bold"/>
            </a:endParaRPr>
          </a:p>
          <a:p>
            <a:pPr marL="755651" lvl="1" indent="-377825" algn="l">
              <a:lnSpc>
                <a:spcPts val="4900"/>
              </a:lnSpc>
              <a:buFont typeface="Arial"/>
              <a:buChar char="•"/>
            </a:pPr>
            <a:r>
              <a:rPr lang="en-US" sz="3500">
                <a:solidFill>
                  <a:srgbClr val="000000"/>
                </a:solidFill>
                <a:latin typeface="Agrandir"/>
                <a:ea typeface="Agrandir"/>
                <a:cs typeface="Agrandir"/>
                <a:sym typeface="Agrandir"/>
              </a:rPr>
              <a:t>Features obtained from the attention layer are passed through fully connected layers.</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Dropout is applied to prevent overfitting.</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The final output layer predicts a single continuous value:</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Remaining Useful Life (RUL)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110385" y="684090"/>
            <a:ext cx="9033615" cy="6444615"/>
          </a:xfrm>
          <a:prstGeom prst="rect">
            <a:avLst/>
          </a:prstGeom>
        </p:spPr>
        <p:txBody>
          <a:bodyPr lIns="0" tIns="0" rIns="0" bIns="0" rtlCol="0" anchor="t">
            <a:spAutoFit/>
          </a:bodyPr>
          <a:lstStyle/>
          <a:p>
            <a:pPr algn="ctr">
              <a:lnSpc>
                <a:spcPts val="6019"/>
              </a:lnSpc>
              <a:spcBef>
                <a:spcPct val="0"/>
              </a:spcBef>
            </a:pPr>
            <a:r>
              <a:rPr lang="en-US" sz="4299" b="1" u="sng">
                <a:solidFill>
                  <a:srgbClr val="2A6D72"/>
                </a:solidFill>
                <a:latin typeface="Agrandir Bold"/>
                <a:ea typeface="Agrandir Bold"/>
                <a:cs typeface="Agrandir Bold"/>
                <a:sym typeface="Agrandir Bold"/>
              </a:rPr>
              <a:t>Model Training Strategy</a:t>
            </a:r>
          </a:p>
          <a:p>
            <a:pPr algn="ctr">
              <a:lnSpc>
                <a:spcPts val="4900"/>
              </a:lnSpc>
              <a:spcBef>
                <a:spcPct val="0"/>
              </a:spcBef>
            </a:pPr>
            <a:endParaRPr lang="en-US" sz="4299" b="1" u="sng">
              <a:solidFill>
                <a:srgbClr val="2A6D72"/>
              </a:solidFill>
              <a:latin typeface="Agrandir Bold"/>
              <a:ea typeface="Agrandir Bold"/>
              <a:cs typeface="Agrandir Bold"/>
              <a:sym typeface="Agrandir Bold"/>
            </a:endParaRPr>
          </a:p>
          <a:p>
            <a:pPr marL="755651" lvl="1" indent="-377825" algn="l">
              <a:lnSpc>
                <a:spcPts val="4900"/>
              </a:lnSpc>
              <a:buFont typeface="Arial"/>
              <a:buChar char="•"/>
            </a:pPr>
            <a:r>
              <a:rPr lang="en-US" sz="3500">
                <a:solidFill>
                  <a:srgbClr val="000000"/>
                </a:solidFill>
                <a:latin typeface="Agrandir"/>
                <a:ea typeface="Agrandir"/>
                <a:cs typeface="Agrandir"/>
                <a:sym typeface="Agrandir"/>
              </a:rPr>
              <a:t>The model is trained using the Mean Squared Error (MSE) loss function.</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Early stopping is employed to:</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Prevent overfitting</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Restore the best-performing model weights</a:t>
            </a:r>
          </a:p>
          <a:p>
            <a:pPr marL="755651" lvl="1" indent="-377825" algn="l">
              <a:lnSpc>
                <a:spcPts val="4900"/>
              </a:lnSpc>
              <a:buFont typeface="Arial"/>
              <a:buChar char="•"/>
            </a:pPr>
            <a:r>
              <a:rPr lang="en-US" sz="3500">
                <a:solidFill>
                  <a:srgbClr val="000000"/>
                </a:solidFill>
                <a:latin typeface="Agrandir"/>
                <a:ea typeface="Agrandir"/>
                <a:cs typeface="Agrandir"/>
                <a:sym typeface="Agrandir"/>
              </a:rPr>
              <a:t>A validation split is used to monitor generalization performance.</a:t>
            </a:r>
          </a:p>
        </p:txBody>
      </p:sp>
      <p:sp>
        <p:nvSpPr>
          <p:cNvPr id="3" name="AutoShape 3"/>
          <p:cNvSpPr/>
          <p:nvPr/>
        </p:nvSpPr>
        <p:spPr>
          <a:xfrm flipH="1">
            <a:off x="8537693" y="1669018"/>
            <a:ext cx="19050" cy="8110978"/>
          </a:xfrm>
          <a:prstGeom prst="line">
            <a:avLst/>
          </a:prstGeom>
          <a:ln w="38100" cap="flat">
            <a:solidFill>
              <a:srgbClr val="000000"/>
            </a:solidFill>
            <a:prstDash val="sysDot"/>
            <a:headEnd type="none" w="sm" len="sm"/>
            <a:tailEnd type="none" w="sm" len="sm"/>
          </a:ln>
        </p:spPr>
      </p:sp>
      <p:sp>
        <p:nvSpPr>
          <p:cNvPr id="4" name="TextBox 4"/>
          <p:cNvSpPr txBox="1"/>
          <p:nvPr/>
        </p:nvSpPr>
        <p:spPr>
          <a:xfrm>
            <a:off x="8329691" y="1991474"/>
            <a:ext cx="10135990" cy="6555561"/>
          </a:xfrm>
          <a:prstGeom prst="rect">
            <a:avLst/>
          </a:prstGeom>
        </p:spPr>
        <p:txBody>
          <a:bodyPr lIns="0" tIns="0" rIns="0" bIns="0" rtlCol="0" anchor="t">
            <a:spAutoFit/>
          </a:bodyPr>
          <a:lstStyle/>
          <a:p>
            <a:pPr algn="l">
              <a:lnSpc>
                <a:spcPts val="5119"/>
              </a:lnSpc>
            </a:pPr>
            <a:endParaRPr/>
          </a:p>
          <a:p>
            <a:pPr marL="789554" lvl="1" indent="-394777" algn="l">
              <a:lnSpc>
                <a:spcPts val="5119"/>
              </a:lnSpc>
              <a:buFont typeface="Arial"/>
              <a:buChar char="•"/>
            </a:pPr>
            <a:r>
              <a:rPr lang="en-US" sz="3657">
                <a:solidFill>
                  <a:srgbClr val="000000"/>
                </a:solidFill>
                <a:latin typeface="Agrandir"/>
                <a:ea typeface="Agrandir"/>
                <a:cs typeface="Agrandir"/>
                <a:sym typeface="Agrandir"/>
              </a:rPr>
              <a:t>Model performance is evaluated using:</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Root Mean Square Error (RMSE)</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Mean Absolute Error (MAE)</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R² Score</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Tolerance-based accuracy</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Multiple visualization techniques are used:</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Training vs validation loss curves</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Predicted vs true RUL plots</a:t>
            </a:r>
          </a:p>
          <a:p>
            <a:pPr marL="789554" lvl="1" indent="-394777" algn="l">
              <a:lnSpc>
                <a:spcPts val="5119"/>
              </a:lnSpc>
              <a:buFont typeface="Arial"/>
              <a:buChar char="•"/>
            </a:pPr>
            <a:r>
              <a:rPr lang="en-US" sz="3657">
                <a:solidFill>
                  <a:srgbClr val="000000"/>
                </a:solidFill>
                <a:latin typeface="Agrandir"/>
                <a:ea typeface="Agrandir"/>
                <a:cs typeface="Agrandir"/>
                <a:sym typeface="Agrandir"/>
              </a:rPr>
              <a:t>Error distribution analysis</a:t>
            </a:r>
          </a:p>
        </p:txBody>
      </p:sp>
      <p:sp>
        <p:nvSpPr>
          <p:cNvPr id="5" name="TextBox 5"/>
          <p:cNvSpPr txBox="1"/>
          <p:nvPr/>
        </p:nvSpPr>
        <p:spPr>
          <a:xfrm>
            <a:off x="9536073" y="645990"/>
            <a:ext cx="7723227" cy="1022984"/>
          </a:xfrm>
          <a:prstGeom prst="rect">
            <a:avLst/>
          </a:prstGeom>
        </p:spPr>
        <p:txBody>
          <a:bodyPr lIns="0" tIns="0" rIns="0" bIns="0" rtlCol="0" anchor="t">
            <a:spAutoFit/>
          </a:bodyPr>
          <a:lstStyle/>
          <a:p>
            <a:pPr algn="ctr">
              <a:lnSpc>
                <a:spcPts val="7140"/>
              </a:lnSpc>
              <a:spcBef>
                <a:spcPct val="0"/>
              </a:spcBef>
            </a:pPr>
            <a:r>
              <a:rPr lang="en-US" sz="5100" b="1" u="sng">
                <a:solidFill>
                  <a:srgbClr val="2A6D72"/>
                </a:solidFill>
                <a:latin typeface="Agrandir Bold"/>
                <a:ea typeface="Agrandir Bold"/>
                <a:cs typeface="Agrandir Bold"/>
                <a:sym typeface="Agrandir Bold"/>
              </a:rPr>
              <a:t>Performance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508456" y="4372513"/>
            <a:ext cx="5185364" cy="5147171"/>
          </a:xfrm>
          <a:custGeom>
            <a:avLst/>
            <a:gdLst/>
            <a:ahLst/>
            <a:cxnLst/>
            <a:rect l="l" t="t" r="r" b="b"/>
            <a:pathLst>
              <a:path w="5185364" h="5147171">
                <a:moveTo>
                  <a:pt x="0" y="0"/>
                </a:moveTo>
                <a:lnTo>
                  <a:pt x="5185364" y="0"/>
                </a:lnTo>
                <a:lnTo>
                  <a:pt x="5185364" y="5147171"/>
                </a:lnTo>
                <a:lnTo>
                  <a:pt x="0" y="5147171"/>
                </a:lnTo>
                <a:lnTo>
                  <a:pt x="0" y="0"/>
                </a:lnTo>
                <a:close/>
              </a:path>
            </a:pathLst>
          </a:custGeom>
          <a:blipFill>
            <a:blip r:embed="rId2"/>
            <a:stretch>
              <a:fillRect t="-1780" b="-1780"/>
            </a:stretch>
          </a:blipFill>
        </p:spPr>
      </p:sp>
      <p:sp>
        <p:nvSpPr>
          <p:cNvPr id="3" name="Freeform 3"/>
          <p:cNvSpPr/>
          <p:nvPr/>
        </p:nvSpPr>
        <p:spPr>
          <a:xfrm>
            <a:off x="9006384" y="216730"/>
            <a:ext cx="7238578" cy="5137635"/>
          </a:xfrm>
          <a:custGeom>
            <a:avLst/>
            <a:gdLst/>
            <a:ahLst/>
            <a:cxnLst/>
            <a:rect l="l" t="t" r="r" b="b"/>
            <a:pathLst>
              <a:path w="7238578" h="5137635">
                <a:moveTo>
                  <a:pt x="0" y="0"/>
                </a:moveTo>
                <a:lnTo>
                  <a:pt x="7238578" y="0"/>
                </a:lnTo>
                <a:lnTo>
                  <a:pt x="7238578" y="5137635"/>
                </a:lnTo>
                <a:lnTo>
                  <a:pt x="0" y="5137635"/>
                </a:lnTo>
                <a:lnTo>
                  <a:pt x="0" y="0"/>
                </a:lnTo>
                <a:close/>
              </a:path>
            </a:pathLst>
          </a:custGeom>
          <a:blipFill>
            <a:blip r:embed="rId3"/>
            <a:stretch>
              <a:fillRect r="-2584"/>
            </a:stretch>
          </a:blipFill>
        </p:spPr>
      </p:sp>
      <p:sp>
        <p:nvSpPr>
          <p:cNvPr id="4" name="Freeform 4"/>
          <p:cNvSpPr/>
          <p:nvPr/>
        </p:nvSpPr>
        <p:spPr>
          <a:xfrm>
            <a:off x="1288244" y="1028700"/>
            <a:ext cx="6995503" cy="2940895"/>
          </a:xfrm>
          <a:custGeom>
            <a:avLst/>
            <a:gdLst/>
            <a:ahLst/>
            <a:cxnLst/>
            <a:rect l="l" t="t" r="r" b="b"/>
            <a:pathLst>
              <a:path w="6995503" h="2940895">
                <a:moveTo>
                  <a:pt x="0" y="0"/>
                </a:moveTo>
                <a:lnTo>
                  <a:pt x="6995503" y="0"/>
                </a:lnTo>
                <a:lnTo>
                  <a:pt x="6995503" y="2940895"/>
                </a:lnTo>
                <a:lnTo>
                  <a:pt x="0" y="2940895"/>
                </a:lnTo>
                <a:lnTo>
                  <a:pt x="0" y="0"/>
                </a:lnTo>
                <a:close/>
              </a:path>
            </a:pathLst>
          </a:custGeom>
          <a:blipFill>
            <a:blip r:embed="rId4"/>
            <a:stretch>
              <a:fillRect/>
            </a:stretch>
          </a:blipFill>
        </p:spPr>
      </p:sp>
      <p:sp>
        <p:nvSpPr>
          <p:cNvPr id="5" name="TextBox 5"/>
          <p:cNvSpPr txBox="1"/>
          <p:nvPr/>
        </p:nvSpPr>
        <p:spPr>
          <a:xfrm>
            <a:off x="1283355" y="-1269"/>
            <a:ext cx="6070045" cy="1029969"/>
          </a:xfrm>
          <a:prstGeom prst="rect">
            <a:avLst/>
          </a:prstGeom>
        </p:spPr>
        <p:txBody>
          <a:bodyPr lIns="0" tIns="0" rIns="0" bIns="0" rtlCol="0" anchor="t">
            <a:spAutoFit/>
          </a:bodyPr>
          <a:lstStyle/>
          <a:p>
            <a:pPr algn="ctr">
              <a:lnSpc>
                <a:spcPts val="7280"/>
              </a:lnSpc>
              <a:spcBef>
                <a:spcPct val="0"/>
              </a:spcBef>
            </a:pPr>
            <a:r>
              <a:rPr lang="en-US" sz="5200" b="1" u="sng">
                <a:solidFill>
                  <a:srgbClr val="2A6D72"/>
                </a:solidFill>
                <a:latin typeface="Agrandir Bold"/>
                <a:ea typeface="Agrandir Bold"/>
                <a:cs typeface="Agrandir Bold"/>
                <a:sym typeface="Agrandir Bold"/>
              </a:rPr>
              <a:t>PYTHON RESULTS</a:t>
            </a:r>
            <a:r>
              <a:rPr lang="en-US" sz="5200" b="1">
                <a:solidFill>
                  <a:srgbClr val="000000"/>
                </a:solidFill>
                <a:latin typeface="Agrandir Bold"/>
                <a:ea typeface="Agrandir Bold"/>
                <a:cs typeface="Agrandir Bold"/>
                <a:sym typeface="Agrandir Bold"/>
              </a:rPr>
              <a:t> </a:t>
            </a:r>
          </a:p>
        </p:txBody>
      </p:sp>
      <p:sp>
        <p:nvSpPr>
          <p:cNvPr id="6" name="TextBox 6"/>
          <p:cNvSpPr txBox="1"/>
          <p:nvPr/>
        </p:nvSpPr>
        <p:spPr>
          <a:xfrm>
            <a:off x="7668541" y="5941462"/>
            <a:ext cx="10229406" cy="3715382"/>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Agrandir"/>
                <a:ea typeface="Agrandir"/>
                <a:cs typeface="Agrandir"/>
                <a:sym typeface="Agrandir"/>
              </a:rPr>
              <a:t>The figures illustrate the performance of the RUL prediction model. The predicted vs. true RUL plot shows that most predictions closely follow the ideal diagonal line, indicating good agreement with actual values. The prediction error plot demonstrates that errors are generally centered around zero, with limited dispersion across the RUL range, suggesting minimal bias. Overall, the displayed metrics confirm that the model achieves accurate and reliable RUL estimation.</a:t>
            </a:r>
          </a:p>
        </p:txBody>
      </p:sp>
      <p:sp>
        <p:nvSpPr>
          <p:cNvPr id="7" name="TextBox 7"/>
          <p:cNvSpPr txBox="1"/>
          <p:nvPr/>
        </p:nvSpPr>
        <p:spPr>
          <a:xfrm>
            <a:off x="3850760" y="3845770"/>
            <a:ext cx="935236" cy="498472"/>
          </a:xfrm>
          <a:prstGeom prst="rect">
            <a:avLst/>
          </a:prstGeom>
        </p:spPr>
        <p:txBody>
          <a:bodyPr lIns="0" tIns="0" rIns="0" bIns="0" rtlCol="0" anchor="t">
            <a:spAutoFit/>
          </a:bodyPr>
          <a:lstStyle/>
          <a:p>
            <a:pPr algn="ctr">
              <a:lnSpc>
                <a:spcPts val="3500"/>
              </a:lnSpc>
              <a:spcBef>
                <a:spcPct val="0"/>
              </a:spcBef>
            </a:pPr>
            <a:r>
              <a:rPr lang="en-US" sz="2500" b="1">
                <a:solidFill>
                  <a:srgbClr val="000000"/>
                </a:solidFill>
                <a:latin typeface="Agrandir Bold"/>
                <a:ea typeface="Agrandir Bold"/>
                <a:cs typeface="Agrandir Bold"/>
                <a:sym typeface="Agrandir Bold"/>
              </a:rPr>
              <a:t>fig 2.1</a:t>
            </a:r>
          </a:p>
        </p:txBody>
      </p:sp>
      <p:sp>
        <p:nvSpPr>
          <p:cNvPr id="8" name="TextBox 8"/>
          <p:cNvSpPr txBox="1"/>
          <p:nvPr/>
        </p:nvSpPr>
        <p:spPr>
          <a:xfrm>
            <a:off x="12428132" y="5308694"/>
            <a:ext cx="1040130" cy="531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fig 2.2</a:t>
            </a:r>
          </a:p>
        </p:txBody>
      </p:sp>
      <p:sp>
        <p:nvSpPr>
          <p:cNvPr id="9" name="TextBox 9"/>
          <p:cNvSpPr txBox="1"/>
          <p:nvPr/>
        </p:nvSpPr>
        <p:spPr>
          <a:xfrm>
            <a:off x="3745628" y="9533019"/>
            <a:ext cx="1040368" cy="531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fig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0247119" y="2334803"/>
            <a:ext cx="7866820" cy="6008315"/>
          </a:xfrm>
          <a:custGeom>
            <a:avLst/>
            <a:gdLst/>
            <a:ahLst/>
            <a:cxnLst/>
            <a:rect l="l" t="t" r="r" b="b"/>
            <a:pathLst>
              <a:path w="7866820" h="6008315">
                <a:moveTo>
                  <a:pt x="0" y="0"/>
                </a:moveTo>
                <a:lnTo>
                  <a:pt x="7866820" y="0"/>
                </a:lnTo>
                <a:lnTo>
                  <a:pt x="7866820" y="6008315"/>
                </a:lnTo>
                <a:lnTo>
                  <a:pt x="0" y="6008315"/>
                </a:lnTo>
                <a:lnTo>
                  <a:pt x="0" y="0"/>
                </a:lnTo>
                <a:close/>
              </a:path>
            </a:pathLst>
          </a:custGeom>
          <a:blipFill>
            <a:blip r:embed="rId2"/>
            <a:stretch>
              <a:fillRect l="-2791" r="-2791"/>
            </a:stretch>
          </a:blipFill>
        </p:spPr>
      </p:sp>
      <p:sp>
        <p:nvSpPr>
          <p:cNvPr id="3" name="Freeform 3"/>
          <p:cNvSpPr/>
          <p:nvPr/>
        </p:nvSpPr>
        <p:spPr>
          <a:xfrm>
            <a:off x="622694" y="4763451"/>
            <a:ext cx="8128636" cy="5085608"/>
          </a:xfrm>
          <a:custGeom>
            <a:avLst/>
            <a:gdLst/>
            <a:ahLst/>
            <a:cxnLst/>
            <a:rect l="l" t="t" r="r" b="b"/>
            <a:pathLst>
              <a:path w="8128636" h="5085608">
                <a:moveTo>
                  <a:pt x="0" y="0"/>
                </a:moveTo>
                <a:lnTo>
                  <a:pt x="8128636" y="0"/>
                </a:lnTo>
                <a:lnTo>
                  <a:pt x="8128636" y="5085609"/>
                </a:lnTo>
                <a:lnTo>
                  <a:pt x="0" y="5085609"/>
                </a:lnTo>
                <a:lnTo>
                  <a:pt x="0" y="0"/>
                </a:lnTo>
                <a:close/>
              </a:path>
            </a:pathLst>
          </a:custGeom>
          <a:blipFill>
            <a:blip r:embed="rId3"/>
            <a:stretch>
              <a:fillRect/>
            </a:stretch>
          </a:blipFill>
        </p:spPr>
      </p:sp>
      <p:sp>
        <p:nvSpPr>
          <p:cNvPr id="4" name="TextBox 4"/>
          <p:cNvSpPr txBox="1"/>
          <p:nvPr/>
        </p:nvSpPr>
        <p:spPr>
          <a:xfrm>
            <a:off x="978539" y="281942"/>
            <a:ext cx="6565261" cy="712183"/>
          </a:xfrm>
          <a:prstGeom prst="rect">
            <a:avLst/>
          </a:prstGeom>
        </p:spPr>
        <p:txBody>
          <a:bodyPr wrap="square" lIns="0" tIns="0" rIns="0" bIns="0" rtlCol="0" anchor="t">
            <a:spAutoFit/>
          </a:bodyPr>
          <a:lstStyle/>
          <a:p>
            <a:pPr algn="ctr">
              <a:lnSpc>
                <a:spcPts val="5880"/>
              </a:lnSpc>
              <a:spcBef>
                <a:spcPct val="0"/>
              </a:spcBef>
            </a:pPr>
            <a:r>
              <a:rPr lang="en-US" sz="4200" b="1" u="sng" dirty="0">
                <a:solidFill>
                  <a:srgbClr val="2A6D72"/>
                </a:solidFill>
                <a:latin typeface="Agrandir Bold"/>
                <a:ea typeface="Agrandir Bold"/>
                <a:cs typeface="Agrandir Bold"/>
                <a:sym typeface="Agrandir Bold"/>
              </a:rPr>
              <a:t>MATLAB RESULTS</a:t>
            </a:r>
            <a:r>
              <a:rPr lang="en-US" sz="4200" b="1" dirty="0">
                <a:solidFill>
                  <a:srgbClr val="000000"/>
                </a:solidFill>
                <a:latin typeface="Agrandir Bold"/>
                <a:ea typeface="Agrandir Bold"/>
                <a:cs typeface="Agrandir Bold"/>
                <a:sym typeface="Agrandir Bold"/>
              </a:rPr>
              <a:t> </a:t>
            </a:r>
          </a:p>
        </p:txBody>
      </p:sp>
      <p:sp>
        <p:nvSpPr>
          <p:cNvPr id="5" name="TextBox 5"/>
          <p:cNvSpPr txBox="1"/>
          <p:nvPr/>
        </p:nvSpPr>
        <p:spPr>
          <a:xfrm>
            <a:off x="450201" y="1184435"/>
            <a:ext cx="9629007" cy="3388992"/>
          </a:xfrm>
          <a:prstGeom prst="rect">
            <a:avLst/>
          </a:prstGeom>
        </p:spPr>
        <p:txBody>
          <a:bodyPr lIns="0" tIns="0" rIns="0" bIns="0" rtlCol="0" anchor="t">
            <a:spAutoFit/>
          </a:bodyPr>
          <a:lstStyle/>
          <a:p>
            <a:pPr algn="just">
              <a:lnSpc>
                <a:spcPts val="3780"/>
              </a:lnSpc>
              <a:spcBef>
                <a:spcPct val="0"/>
              </a:spcBef>
            </a:pPr>
            <a:r>
              <a:rPr lang="en-US" sz="2700">
                <a:solidFill>
                  <a:srgbClr val="000000"/>
                </a:solidFill>
                <a:latin typeface="Agrandir"/>
                <a:ea typeface="Agrandir"/>
                <a:cs typeface="Agrandir"/>
                <a:sym typeface="Agrandir"/>
              </a:rPr>
              <a:t>The MATLAB results demonstrate strong RUL prediction performance. The predicted versus actual RUL plot shows most points clustered around the ideal diagonal line, indicating good prediction accuracy. The performance metrics (RMSE, MAE, and R²) further confirm that the model provides reliable and accurate Remaining Useful Life estimation.</a:t>
            </a:r>
          </a:p>
        </p:txBody>
      </p:sp>
      <p:sp>
        <p:nvSpPr>
          <p:cNvPr id="6" name="TextBox 6"/>
          <p:cNvSpPr txBox="1"/>
          <p:nvPr/>
        </p:nvSpPr>
        <p:spPr>
          <a:xfrm>
            <a:off x="1123820" y="9755508"/>
            <a:ext cx="8281769" cy="531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fig 3.1 </a:t>
            </a:r>
          </a:p>
        </p:txBody>
      </p:sp>
      <p:sp>
        <p:nvSpPr>
          <p:cNvPr id="7" name="TextBox 7"/>
          <p:cNvSpPr txBox="1"/>
          <p:nvPr/>
        </p:nvSpPr>
        <p:spPr>
          <a:xfrm>
            <a:off x="13903809" y="8420032"/>
            <a:ext cx="1040368" cy="531492"/>
          </a:xfrm>
          <a:prstGeom prst="rect">
            <a:avLst/>
          </a:prstGeom>
        </p:spPr>
        <p:txBody>
          <a:bodyPr lIns="0" tIns="0" rIns="0" bIns="0" rtlCol="0" anchor="t">
            <a:spAutoFit/>
          </a:bodyPr>
          <a:lstStyle/>
          <a:p>
            <a:pPr algn="ctr">
              <a:lnSpc>
                <a:spcPts val="3780"/>
              </a:lnSpc>
              <a:spcBef>
                <a:spcPct val="0"/>
              </a:spcBef>
            </a:pPr>
            <a:r>
              <a:rPr lang="en-US" sz="2700" b="1">
                <a:solidFill>
                  <a:srgbClr val="000000"/>
                </a:solidFill>
                <a:latin typeface="Agrandir Bold"/>
                <a:ea typeface="Agrandir Bold"/>
                <a:cs typeface="Agrandir Bold"/>
                <a:sym typeface="Agrandir Bold"/>
              </a:rPr>
              <a:t>fig 3.2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144549" y="2780128"/>
            <a:ext cx="16558260" cy="4145278"/>
          </a:xfrm>
          <a:prstGeom prst="rect">
            <a:avLst/>
          </a:prstGeom>
        </p:spPr>
        <p:txBody>
          <a:bodyPr lIns="0" tIns="0" rIns="0" bIns="0" rtlCol="0" anchor="t">
            <a:spAutoFit/>
          </a:bodyPr>
          <a:lstStyle/>
          <a:p>
            <a:pPr marL="712489" lvl="1" indent="-356245" algn="l">
              <a:lnSpc>
                <a:spcPts val="4620"/>
              </a:lnSpc>
              <a:buFont typeface="Arial"/>
              <a:buChar char="•"/>
            </a:pPr>
            <a:r>
              <a:rPr lang="en-US" sz="3300">
                <a:solidFill>
                  <a:srgbClr val="000000"/>
                </a:solidFill>
                <a:latin typeface="Agrandir"/>
                <a:ea typeface="Agrandir"/>
                <a:cs typeface="Agrandir"/>
                <a:sym typeface="Agrandir"/>
              </a:rPr>
              <a:t>Incorporate operating condition information directly into the model architecture.</a:t>
            </a:r>
          </a:p>
          <a:p>
            <a:pPr algn="l">
              <a:lnSpc>
                <a:spcPts val="4620"/>
              </a:lnSpc>
            </a:pPr>
            <a:endParaRPr lang="en-US" sz="3300">
              <a:solidFill>
                <a:srgbClr val="000000"/>
              </a:solidFill>
              <a:latin typeface="Agrandir"/>
              <a:ea typeface="Agrandir"/>
              <a:cs typeface="Agrandir"/>
              <a:sym typeface="Agrandir"/>
            </a:endParaRPr>
          </a:p>
          <a:p>
            <a:pPr marL="712489" lvl="1" indent="-356245" algn="l">
              <a:lnSpc>
                <a:spcPts val="4620"/>
              </a:lnSpc>
              <a:buFont typeface="Arial"/>
              <a:buChar char="•"/>
            </a:pPr>
            <a:r>
              <a:rPr lang="en-US" sz="3300">
                <a:solidFill>
                  <a:srgbClr val="000000"/>
                </a:solidFill>
                <a:latin typeface="Agrandir"/>
                <a:ea typeface="Agrandir"/>
                <a:cs typeface="Agrandir"/>
                <a:sym typeface="Agrandir"/>
              </a:rPr>
              <a:t>Perform hyperparameter optimization using automated search techniques.</a:t>
            </a:r>
          </a:p>
          <a:p>
            <a:pPr algn="l">
              <a:lnSpc>
                <a:spcPts val="4620"/>
              </a:lnSpc>
            </a:pPr>
            <a:endParaRPr lang="en-US" sz="3300">
              <a:solidFill>
                <a:srgbClr val="000000"/>
              </a:solidFill>
              <a:latin typeface="Agrandir"/>
              <a:ea typeface="Agrandir"/>
              <a:cs typeface="Agrandir"/>
              <a:sym typeface="Agrandir"/>
            </a:endParaRPr>
          </a:p>
          <a:p>
            <a:pPr marL="712489" lvl="1" indent="-356245" algn="l">
              <a:lnSpc>
                <a:spcPts val="4620"/>
              </a:lnSpc>
              <a:buFont typeface="Arial"/>
              <a:buChar char="•"/>
            </a:pPr>
            <a:r>
              <a:rPr lang="en-US" sz="3300">
                <a:solidFill>
                  <a:srgbClr val="000000"/>
                </a:solidFill>
                <a:latin typeface="Agrandir"/>
                <a:ea typeface="Agrandir"/>
                <a:cs typeface="Agrandir"/>
                <a:sym typeface="Agrandir"/>
              </a:rPr>
              <a:t>Evaluate model robustness under noisy and incomplete sensor data.</a:t>
            </a:r>
          </a:p>
          <a:p>
            <a:pPr algn="l">
              <a:lnSpc>
                <a:spcPts val="4620"/>
              </a:lnSpc>
            </a:pPr>
            <a:endParaRPr lang="en-US" sz="3300">
              <a:solidFill>
                <a:srgbClr val="000000"/>
              </a:solidFill>
              <a:latin typeface="Agrandir"/>
              <a:ea typeface="Agrandir"/>
              <a:cs typeface="Agrandir"/>
              <a:sym typeface="Agrandir"/>
            </a:endParaRPr>
          </a:p>
          <a:p>
            <a:pPr marL="712489" lvl="1" indent="-356245" algn="l">
              <a:lnSpc>
                <a:spcPts val="4620"/>
              </a:lnSpc>
              <a:buFont typeface="Arial"/>
              <a:buChar char="•"/>
            </a:pPr>
            <a:r>
              <a:rPr lang="en-US" sz="3300">
                <a:solidFill>
                  <a:srgbClr val="000000"/>
                </a:solidFill>
                <a:latin typeface="Agrandir"/>
                <a:ea typeface="Agrandir"/>
                <a:cs typeface="Agrandir"/>
                <a:sym typeface="Agrandir"/>
              </a:rPr>
              <a:t>Deploy the model using edge or cloud-based platforms for real-time monitoring.</a:t>
            </a:r>
          </a:p>
        </p:txBody>
      </p:sp>
      <p:sp>
        <p:nvSpPr>
          <p:cNvPr id="3" name="TextBox 3"/>
          <p:cNvSpPr txBox="1"/>
          <p:nvPr/>
        </p:nvSpPr>
        <p:spPr>
          <a:xfrm>
            <a:off x="818093" y="591436"/>
            <a:ext cx="6268507" cy="858568"/>
          </a:xfrm>
          <a:prstGeom prst="rect">
            <a:avLst/>
          </a:prstGeom>
        </p:spPr>
        <p:txBody>
          <a:bodyPr wrap="square" lIns="0" tIns="0" rIns="0" bIns="0" rtlCol="0" anchor="t">
            <a:spAutoFit/>
          </a:bodyPr>
          <a:lstStyle/>
          <a:p>
            <a:pPr algn="ctr">
              <a:lnSpc>
                <a:spcPts val="7140"/>
              </a:lnSpc>
              <a:spcBef>
                <a:spcPct val="0"/>
              </a:spcBef>
            </a:pPr>
            <a:r>
              <a:rPr lang="en-US" sz="5100" b="1" u="sng" dirty="0">
                <a:solidFill>
                  <a:srgbClr val="33858B"/>
                </a:solidFill>
                <a:latin typeface="Agrandir Bold"/>
                <a:ea typeface="Agrandir Bold"/>
                <a:cs typeface="Agrandir Bold"/>
                <a:sym typeface="Agrandir Bold"/>
              </a:rPr>
              <a:t>future scope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5126151" y="72442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486499" y="3789386"/>
            <a:ext cx="11774712" cy="2593928"/>
          </a:xfrm>
          <a:prstGeom prst="rect">
            <a:avLst/>
          </a:prstGeom>
        </p:spPr>
        <p:txBody>
          <a:bodyPr lIns="0" tIns="0" rIns="0" bIns="0" rtlCol="0" anchor="t">
            <a:spAutoFit/>
          </a:bodyPr>
          <a:lstStyle/>
          <a:p>
            <a:pPr algn="l">
              <a:lnSpc>
                <a:spcPts val="15841"/>
              </a:lnSpc>
            </a:pPr>
            <a:r>
              <a:rPr lang="en-US" sz="16331">
                <a:solidFill>
                  <a:srgbClr val="000000"/>
                </a:solidFill>
                <a:latin typeface="Agrandir"/>
                <a:ea typeface="Agrandir"/>
                <a:cs typeface="Agrandir"/>
                <a:sym typeface="Agrandir"/>
              </a:rPr>
              <a:t>Thank You</a:t>
            </a:r>
          </a:p>
        </p:txBody>
      </p:sp>
      <p:sp>
        <p:nvSpPr>
          <p:cNvPr id="4" name="Freeform 4"/>
          <p:cNvSpPr/>
          <p:nvPr/>
        </p:nvSpPr>
        <p:spPr>
          <a:xfrm>
            <a:off x="3799289" y="-178674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997</Words>
  <Application>Microsoft Office PowerPoint</Application>
  <PresentationFormat>Custom</PresentationFormat>
  <Paragraphs>175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Agrandir Bold Italics</vt:lpstr>
      <vt:lpstr>Calibri</vt:lpstr>
      <vt:lpstr>Agrandir Bold</vt:lpstr>
      <vt:lpstr>Arial</vt:lpstr>
      <vt:lpstr>Agrandir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Blue Classy Elegant Technology Group Project Presentation</dc:title>
  <cp:lastModifiedBy>Poornima Paidy</cp:lastModifiedBy>
  <cp:revision>2</cp:revision>
  <dcterms:created xsi:type="dcterms:W3CDTF">2006-08-16T00:00:00Z</dcterms:created>
  <dcterms:modified xsi:type="dcterms:W3CDTF">2026-01-26T08:21:15Z</dcterms:modified>
  <dc:identifier>DAG-3YZ5pFg</dc:identifier>
</cp:coreProperties>
</file>